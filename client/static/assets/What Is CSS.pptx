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1"/>
  </p:notesMasterIdLst>
  <p:sldIdLst>
    <p:sldId id="256" r:id="rId2"/>
    <p:sldId id="257" r:id="rId3"/>
    <p:sldId id="288" r:id="rId4"/>
    <p:sldId id="258" r:id="rId5"/>
    <p:sldId id="259" r:id="rId6"/>
    <p:sldId id="260" r:id="rId7"/>
    <p:sldId id="261" r:id="rId8"/>
    <p:sldId id="262" r:id="rId9"/>
    <p:sldId id="263" r:id="rId10"/>
    <p:sldId id="289" r:id="rId11"/>
    <p:sldId id="264" r:id="rId12"/>
    <p:sldId id="265" r:id="rId13"/>
    <p:sldId id="266" r:id="rId14"/>
    <p:sldId id="267" r:id="rId15"/>
    <p:sldId id="290" r:id="rId16"/>
    <p:sldId id="268" r:id="rId17"/>
    <p:sldId id="269" r:id="rId18"/>
    <p:sldId id="270" r:id="rId19"/>
    <p:sldId id="271" r:id="rId20"/>
    <p:sldId id="291" r:id="rId21"/>
    <p:sldId id="272" r:id="rId22"/>
    <p:sldId id="273" r:id="rId23"/>
    <p:sldId id="274" r:id="rId24"/>
    <p:sldId id="275" r:id="rId25"/>
    <p:sldId id="292" r:id="rId26"/>
    <p:sldId id="276" r:id="rId27"/>
    <p:sldId id="277" r:id="rId28"/>
    <p:sldId id="278" r:id="rId29"/>
    <p:sldId id="279" r:id="rId30"/>
    <p:sldId id="293" r:id="rId31"/>
    <p:sldId id="280" r:id="rId32"/>
    <p:sldId id="281" r:id="rId33"/>
    <p:sldId id="294" r:id="rId34"/>
    <p:sldId id="282" r:id="rId35"/>
    <p:sldId id="283" r:id="rId36"/>
    <p:sldId id="284" r:id="rId37"/>
    <p:sldId id="285" r:id="rId38"/>
    <p:sldId id="295" r:id="rId39"/>
    <p:sldId id="287" r:id="rId40"/>
  </p:sldIdLst>
  <p:sldSz cx="12192000" cy="6858000"/>
  <p:notesSz cx="6858000" cy="9144000"/>
  <p:embeddedFontLst>
    <p:embeddedFont>
      <p:font typeface="Comfortaa" panose="020B0604020202020204" charset="0"/>
      <p:regular r:id="rId42"/>
      <p:bold r:id="rId43"/>
    </p:embeddedFont>
    <p:embeddedFont>
      <p:font typeface="Poppins" panose="020B0502040204020203" pitchFamily="2" charset="0"/>
      <p:regular r:id="rId44"/>
      <p:bold r:id="rId45"/>
      <p:italic r:id="rId46"/>
      <p:boldItalic r:id="rId47"/>
    </p:embeddedFont>
    <p:embeddedFont>
      <p:font typeface="Source Code Pro" panose="020F0502020204030204" pitchFamily="49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C0C4"/>
    <a:srgbClr val="F7FBFF"/>
    <a:srgbClr val="65787C"/>
    <a:srgbClr val="F9F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59589995-4CC2-C65F-172A-AA6F0F643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2517AE09-95A2-7650-8B5F-88E31CC78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904A2C14-C829-0855-6013-6F6CE8A5BA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93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>
          <a:extLst>
            <a:ext uri="{FF2B5EF4-FFF2-40B4-BE49-F238E27FC236}">
              <a16:creationId xmlns:a16="http://schemas.microsoft.com/office/drawing/2014/main" id="{F103675E-1259-4104-6E72-D82D4B3AF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>
            <a:extLst>
              <a:ext uri="{FF2B5EF4-FFF2-40B4-BE49-F238E27FC236}">
                <a16:creationId xmlns:a16="http://schemas.microsoft.com/office/drawing/2014/main" id="{C409D244-2072-AE57-B68B-3D68EF4B76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:notes">
            <a:extLst>
              <a:ext uri="{FF2B5EF4-FFF2-40B4-BE49-F238E27FC236}">
                <a16:creationId xmlns:a16="http://schemas.microsoft.com/office/drawing/2014/main" id="{44F7A70F-DBEB-385E-A460-0F4D82707A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45552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D9E54365-68D4-914D-DB20-73E7C264A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>
            <a:extLst>
              <a:ext uri="{FF2B5EF4-FFF2-40B4-BE49-F238E27FC236}">
                <a16:creationId xmlns:a16="http://schemas.microsoft.com/office/drawing/2014/main" id="{6CD9E66F-927C-DCD8-12A9-04620D833C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2:notes">
            <a:extLst>
              <a:ext uri="{FF2B5EF4-FFF2-40B4-BE49-F238E27FC236}">
                <a16:creationId xmlns:a16="http://schemas.microsoft.com/office/drawing/2014/main" id="{4C9AA07C-CD81-258F-CF8A-2A38AE6EFD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71189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45E5EF90-127D-2A64-EF4F-B1493301A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:notes">
            <a:extLst>
              <a:ext uri="{FF2B5EF4-FFF2-40B4-BE49-F238E27FC236}">
                <a16:creationId xmlns:a16="http://schemas.microsoft.com/office/drawing/2014/main" id="{C51FC7C7-770F-209D-BDDB-3A33C8422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6:notes">
            <a:extLst>
              <a:ext uri="{FF2B5EF4-FFF2-40B4-BE49-F238E27FC236}">
                <a16:creationId xmlns:a16="http://schemas.microsoft.com/office/drawing/2014/main" id="{095E4061-75EB-37A9-14B9-59C06BD65D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76054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>
          <a:extLst>
            <a:ext uri="{FF2B5EF4-FFF2-40B4-BE49-F238E27FC236}">
              <a16:creationId xmlns:a16="http://schemas.microsoft.com/office/drawing/2014/main" id="{C73DBA98-19B0-FA98-4230-F9E764DC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0:notes">
            <a:extLst>
              <a:ext uri="{FF2B5EF4-FFF2-40B4-BE49-F238E27FC236}">
                <a16:creationId xmlns:a16="http://schemas.microsoft.com/office/drawing/2014/main" id="{558F52ED-DD34-335B-C109-DEE3C418CB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0:notes">
            <a:extLst>
              <a:ext uri="{FF2B5EF4-FFF2-40B4-BE49-F238E27FC236}">
                <a16:creationId xmlns:a16="http://schemas.microsoft.com/office/drawing/2014/main" id="{87F8A8EB-B2C9-D9C1-5032-7E10AC7D2C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82112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>
          <a:extLst>
            <a:ext uri="{FF2B5EF4-FFF2-40B4-BE49-F238E27FC236}">
              <a16:creationId xmlns:a16="http://schemas.microsoft.com/office/drawing/2014/main" id="{F6CA2BCD-360A-9D26-DB1A-87DB11638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4:notes">
            <a:extLst>
              <a:ext uri="{FF2B5EF4-FFF2-40B4-BE49-F238E27FC236}">
                <a16:creationId xmlns:a16="http://schemas.microsoft.com/office/drawing/2014/main" id="{F956C72E-452E-2869-D35A-199E973EF4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24:notes">
            <a:extLst>
              <a:ext uri="{FF2B5EF4-FFF2-40B4-BE49-F238E27FC236}">
                <a16:creationId xmlns:a16="http://schemas.microsoft.com/office/drawing/2014/main" id="{7AC9E3A2-305F-387E-C8CA-0B94974AA1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42050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5BD391AE-8F71-2106-54CE-BE87A5DE0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6:notes">
            <a:extLst>
              <a:ext uri="{FF2B5EF4-FFF2-40B4-BE49-F238E27FC236}">
                <a16:creationId xmlns:a16="http://schemas.microsoft.com/office/drawing/2014/main" id="{4889589B-FE36-051E-36B4-E03FE92F5C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6:notes">
            <a:extLst>
              <a:ext uri="{FF2B5EF4-FFF2-40B4-BE49-F238E27FC236}">
                <a16:creationId xmlns:a16="http://schemas.microsoft.com/office/drawing/2014/main" id="{0BE1AB0E-F286-0F87-309A-0026DF7323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11876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>
          <a:extLst>
            <a:ext uri="{FF2B5EF4-FFF2-40B4-BE49-F238E27FC236}">
              <a16:creationId xmlns:a16="http://schemas.microsoft.com/office/drawing/2014/main" id="{8116D83C-B665-17E7-C69B-E3A35D65E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0:notes">
            <a:extLst>
              <a:ext uri="{FF2B5EF4-FFF2-40B4-BE49-F238E27FC236}">
                <a16:creationId xmlns:a16="http://schemas.microsoft.com/office/drawing/2014/main" id="{90CBA9CB-86DF-F3BC-E7B4-3067F4EE74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30:notes">
            <a:extLst>
              <a:ext uri="{FF2B5EF4-FFF2-40B4-BE49-F238E27FC236}">
                <a16:creationId xmlns:a16="http://schemas.microsoft.com/office/drawing/2014/main" id="{D17C2912-A381-7895-AE9E-CD6C544856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798002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0.jp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7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38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42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45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6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0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4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6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7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2489001"/>
            <a:ext cx="52006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CSS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stands for </a:t>
            </a: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Cascading Style Sheets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598265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904875" y="3149947"/>
            <a:ext cx="48672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It controls how a webpage looks: colors, fonts, layouts, spacing, and more.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04875" y="4071788"/>
            <a:ext cx="48672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HTML</a:t>
            </a:r>
            <a:r>
              <a:rPr lang="en-US" sz="1800" b="0" i="0" u="none" strike="noStrike" cap="none" dirty="0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builds the structure, </a:t>
            </a:r>
            <a:r>
              <a:rPr lang="en-US" sz="1800" b="1" i="0" u="none" strike="noStrike" cap="none" dirty="0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CSS</a:t>
            </a:r>
            <a:r>
              <a:rPr lang="en-US" sz="1800" b="0" i="0" u="none" strike="noStrike" cap="none" dirty="0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makes it beautiful.</a:t>
            </a:r>
            <a:endParaRPr dirty="0"/>
          </a:p>
        </p:txBody>
      </p:sp>
      <p:sp>
        <p:nvSpPr>
          <p:cNvPr id="90" name="Google Shape;90;p13"/>
          <p:cNvSpPr/>
          <p:nvPr/>
        </p:nvSpPr>
        <p:spPr>
          <a:xfrm>
            <a:off x="9930580" y="-952500"/>
            <a:ext cx="3213919" cy="3007442"/>
          </a:xfrm>
          <a:prstGeom prst="roundRect">
            <a:avLst>
              <a:gd name="adj" fmla="val 16667"/>
            </a:avLst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-476250" y="5181600"/>
            <a:ext cx="2521360" cy="2152649"/>
          </a:xfrm>
          <a:prstGeom prst="roundRect">
            <a:avLst>
              <a:gd name="adj" fmla="val 16667"/>
            </a:avLst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Introduction to CSS</a:t>
            </a:r>
            <a:endParaRPr/>
          </a:p>
        </p:txBody>
      </p:sp>
      <p:pic>
        <p:nvPicPr>
          <p:cNvPr id="93" name="Google Shape;93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18804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09888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0279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39355"/>
            <a:ext cx="5200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01455"/>
            <a:ext cx="5200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282505"/>
            <a:ext cx="520065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71500" y="1752600"/>
            <a:ext cx="520065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What does CSS mainly control in a website?</a:t>
            </a:r>
            <a:endParaRPr dirty="0"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1598265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/>
          <p:nvPr/>
        </p:nvSpPr>
        <p:spPr>
          <a:xfrm>
            <a:off x="9802760" y="-952500"/>
            <a:ext cx="3341739" cy="3174590"/>
          </a:xfrm>
          <a:prstGeom prst="roundRect">
            <a:avLst>
              <a:gd name="adj" fmla="val 16667"/>
            </a:avLst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Quiz Time!</a:t>
            </a:r>
            <a:endParaRPr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46AE0E-D479-FAF5-1370-F43F77DA8B9D}"/>
              </a:ext>
            </a:extLst>
          </p:cNvPr>
          <p:cNvSpPr/>
          <p:nvPr/>
        </p:nvSpPr>
        <p:spPr>
          <a:xfrm>
            <a:off x="571500" y="3707011"/>
            <a:ext cx="5200650" cy="638174"/>
          </a:xfrm>
          <a:prstGeom prst="roundRect">
            <a:avLst/>
          </a:prstGeom>
          <a:solidFill>
            <a:schemeClr val="bg1"/>
          </a:solidFill>
          <a:ln>
            <a:solidFill>
              <a:srgbClr val="BAC0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700" dirty="0">
                <a:solidFill>
                  <a:srgbClr val="65787C"/>
                </a:solidFill>
              </a:rPr>
              <a:t>  B) Styling</a:t>
            </a:r>
            <a:endParaRPr lang="en-GB" sz="1700" dirty="0">
              <a:solidFill>
                <a:srgbClr val="65787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596DBE18-C932-75D9-7339-275828F31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>
            <a:extLst>
              <a:ext uri="{FF2B5EF4-FFF2-40B4-BE49-F238E27FC236}">
                <a16:creationId xmlns:a16="http://schemas.microsoft.com/office/drawing/2014/main" id="{49249ED2-E859-8174-49B7-8110519DE4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0279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>
            <a:extLst>
              <a:ext uri="{FF2B5EF4-FFF2-40B4-BE49-F238E27FC236}">
                <a16:creationId xmlns:a16="http://schemas.microsoft.com/office/drawing/2014/main" id="{A658DFAB-F939-6360-0E4A-ECF38A80AEF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>
            <a:extLst>
              <a:ext uri="{FF2B5EF4-FFF2-40B4-BE49-F238E27FC236}">
                <a16:creationId xmlns:a16="http://schemas.microsoft.com/office/drawing/2014/main" id="{C7A95C5D-0814-71AA-AF5B-2D859D038DF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39355"/>
            <a:ext cx="5200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>
            <a:extLst>
              <a:ext uri="{FF2B5EF4-FFF2-40B4-BE49-F238E27FC236}">
                <a16:creationId xmlns:a16="http://schemas.microsoft.com/office/drawing/2014/main" id="{D8105F38-552C-3BEA-477E-77B70236FCB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31980"/>
            <a:ext cx="5200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>
            <a:extLst>
              <a:ext uri="{FF2B5EF4-FFF2-40B4-BE49-F238E27FC236}">
                <a16:creationId xmlns:a16="http://schemas.microsoft.com/office/drawing/2014/main" id="{DE07E27D-8B33-F615-683C-70C86F5DC6F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501455"/>
            <a:ext cx="5200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>
            <a:extLst>
              <a:ext uri="{FF2B5EF4-FFF2-40B4-BE49-F238E27FC236}">
                <a16:creationId xmlns:a16="http://schemas.microsoft.com/office/drawing/2014/main" id="{5A4E0F2F-F3A5-592A-6EFC-54C2073F839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282505"/>
            <a:ext cx="520065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1C131ADF-0BBF-9FE5-C5AA-06C6AC0936F6}"/>
              </a:ext>
            </a:extLst>
          </p:cNvPr>
          <p:cNvSpPr txBox="1"/>
          <p:nvPr/>
        </p:nvSpPr>
        <p:spPr>
          <a:xfrm>
            <a:off x="571500" y="1752600"/>
            <a:ext cx="520065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What does CSS mainly control in a website?</a:t>
            </a:r>
            <a:endParaRPr dirty="0"/>
          </a:p>
        </p:txBody>
      </p:sp>
      <p:pic>
        <p:nvPicPr>
          <p:cNvPr id="106" name="Google Shape;106;p14" descr="image.png">
            <a:extLst>
              <a:ext uri="{FF2B5EF4-FFF2-40B4-BE49-F238E27FC236}">
                <a16:creationId xmlns:a16="http://schemas.microsoft.com/office/drawing/2014/main" id="{62FC5D9D-4DF4-4016-E9AA-2BE9A9B50995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81750" y="1598265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E57CCBD5-2984-25D9-89C9-6715DDF2B89C}"/>
              </a:ext>
            </a:extLst>
          </p:cNvPr>
          <p:cNvSpPr/>
          <p:nvPr/>
        </p:nvSpPr>
        <p:spPr>
          <a:xfrm>
            <a:off x="9802760" y="-952500"/>
            <a:ext cx="3341739" cy="3174590"/>
          </a:xfrm>
          <a:prstGeom prst="roundRect">
            <a:avLst>
              <a:gd name="adj" fmla="val 16667"/>
            </a:avLst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>
            <a:extLst>
              <a:ext uri="{FF2B5EF4-FFF2-40B4-BE49-F238E27FC236}">
                <a16:creationId xmlns:a16="http://schemas.microsoft.com/office/drawing/2014/main" id="{029B296F-169A-B1DE-8ED1-A1A812EF468B}"/>
              </a:ext>
            </a:extLst>
          </p:cNvPr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Quiz Time!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10917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44156"/>
            <a:ext cx="5200650" cy="141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1771798"/>
            <a:ext cx="52006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A CSS rule has 3 main parts: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04875" y="2432744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Selector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(chooses the element)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04875" y="2988915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Property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(what you want to change)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04875" y="3545085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Value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(the change you apply)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09625" y="4701331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74C3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057275" y="4701331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57275" y="5015655"/>
            <a:ext cx="82867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498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color</a:t>
            </a:r>
            <a:endParaRPr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1676400" y="5015656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924050" y="5015655"/>
            <a:ext cx="4953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2ECC7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red</a:t>
            </a:r>
            <a:endParaRPr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2295525" y="5015656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809625" y="5329981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CSS Syntax Overview</a:t>
            </a:r>
            <a:endParaRPr/>
          </a:p>
        </p:txBody>
      </p:sp>
      <p:pic>
        <p:nvPicPr>
          <p:cNvPr id="130" name="Google Shape;13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7084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2701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831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535376-F282-B15B-22E3-155B259DAE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914" y="1384504"/>
            <a:ext cx="6382641" cy="27626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06985"/>
            <a:ext cx="5200650" cy="141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571500" y="2746920"/>
            <a:ext cx="520065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Write CSS to make all titles blue.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809624" y="3764159"/>
            <a:ext cx="37147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74C3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h1</a:t>
            </a:r>
            <a:endParaRPr dirty="0"/>
          </a:p>
        </p:txBody>
      </p:sp>
      <p:sp>
        <p:nvSpPr>
          <p:cNvPr id="143" name="Google Shape;143;p16"/>
          <p:cNvSpPr txBox="1"/>
          <p:nvPr/>
        </p:nvSpPr>
        <p:spPr>
          <a:xfrm>
            <a:off x="1181100" y="3764160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 dirty="0"/>
          </a:p>
        </p:txBody>
      </p:sp>
      <p:sp>
        <p:nvSpPr>
          <p:cNvPr id="144" name="Google Shape;144;p16"/>
          <p:cNvSpPr txBox="1"/>
          <p:nvPr/>
        </p:nvSpPr>
        <p:spPr>
          <a:xfrm>
            <a:off x="1057275" y="4078485"/>
            <a:ext cx="695324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498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color</a:t>
            </a:r>
            <a:endParaRPr dirty="0"/>
          </a:p>
        </p:txBody>
      </p:sp>
      <p:sp>
        <p:nvSpPr>
          <p:cNvPr id="145" name="Google Shape;145;p16"/>
          <p:cNvSpPr txBox="1"/>
          <p:nvPr/>
        </p:nvSpPr>
        <p:spPr>
          <a:xfrm>
            <a:off x="1676400" y="4078485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dirty="0"/>
          </a:p>
        </p:txBody>
      </p:sp>
      <p:sp>
        <p:nvSpPr>
          <p:cNvPr id="146" name="Google Shape;146;p16"/>
          <p:cNvSpPr txBox="1"/>
          <p:nvPr/>
        </p:nvSpPr>
        <p:spPr>
          <a:xfrm>
            <a:off x="1924049" y="4078485"/>
            <a:ext cx="619125" cy="380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2ECC7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blue</a:t>
            </a:r>
            <a:endParaRPr dirty="0"/>
          </a:p>
        </p:txBody>
      </p:sp>
      <p:sp>
        <p:nvSpPr>
          <p:cNvPr id="147" name="Google Shape;147;p16"/>
          <p:cNvSpPr txBox="1"/>
          <p:nvPr/>
        </p:nvSpPr>
        <p:spPr>
          <a:xfrm>
            <a:off x="2419350" y="4078485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09625" y="4392810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Coding Challenge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/>
      <p:bldP spid="143" grpId="0"/>
      <p:bldP spid="144" grpId="0"/>
      <p:bldP spid="145" grpId="0"/>
      <p:bldP spid="146" grpId="0"/>
      <p:bldP spid="147" grpId="0"/>
      <p:bldP spid="14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571500" y="2576661"/>
            <a:ext cx="52006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CSS supports multiple ways to define colors:</a:t>
            </a:r>
            <a:endParaRPr/>
          </a:p>
        </p:txBody>
      </p:sp>
      <p:pic>
        <p:nvPicPr>
          <p:cNvPr id="158" name="Google Shape;158;p17"/>
          <p:cNvPicPr preferRelativeResize="0"/>
          <p:nvPr/>
        </p:nvPicPr>
        <p:blipFill>
          <a:blip r:embed="rId5"/>
          <a:srcRect/>
          <a:stretch/>
        </p:blipFill>
        <p:spPr>
          <a:xfrm>
            <a:off x="6486894" y="1598265"/>
            <a:ext cx="4990361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904875" y="3237607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Names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(e.g., </a:t>
            </a:r>
            <a:r>
              <a:rPr lang="en-US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blue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904875" y="3793777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HEX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(e.g., #ff0000)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904875" y="4349948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RGB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(e.g., rgb(255, 0, 0))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Color Types in CSS</a:t>
            </a:r>
            <a:endParaRPr/>
          </a:p>
        </p:txBody>
      </p:sp>
      <p:pic>
        <p:nvPicPr>
          <p:cNvPr id="164" name="Google Shape;16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7570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3187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88048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2439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60319" y="3358455"/>
            <a:ext cx="5200650" cy="141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6360319" y="2171700"/>
            <a:ext cx="520065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Change a paragraph background to light gray.</a:t>
            </a:r>
            <a:endParaRPr dirty="0"/>
          </a:p>
        </p:txBody>
      </p:sp>
      <p:pic>
        <p:nvPicPr>
          <p:cNvPr id="175" name="Google Shape;17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5301" y="1598265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6598444" y="3615630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74C3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846094" y="3615630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846094" y="3929954"/>
            <a:ext cx="219075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498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background-color</a:t>
            </a:r>
            <a:endParaRPr dirty="0"/>
          </a:p>
        </p:txBody>
      </p:sp>
      <p:sp>
        <p:nvSpPr>
          <p:cNvPr id="179" name="Google Shape;179;p18"/>
          <p:cNvSpPr txBox="1"/>
          <p:nvPr/>
        </p:nvSpPr>
        <p:spPr>
          <a:xfrm>
            <a:off x="8827294" y="3929955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9074944" y="3929954"/>
            <a:ext cx="123825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2ECC7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lightgray</a:t>
            </a:r>
            <a:endParaRPr dirty="0"/>
          </a:p>
        </p:txBody>
      </p:sp>
      <p:sp>
        <p:nvSpPr>
          <p:cNvPr id="181" name="Google Shape;181;p18"/>
          <p:cNvSpPr txBox="1"/>
          <p:nvPr/>
        </p:nvSpPr>
        <p:spPr>
          <a:xfrm>
            <a:off x="10189369" y="3929955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6598444" y="4244280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Coding Challenge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/>
      <p:bldP spid="177" grpId="0"/>
      <p:bldP spid="178" grpId="0"/>
      <p:bldP spid="179" grpId="0"/>
      <p:bldP spid="180" grpId="0"/>
      <p:bldP spid="181" grpId="0"/>
      <p:bldP spid="18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83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036492"/>
            <a:ext cx="520065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571500" y="1807964"/>
            <a:ext cx="52006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Common font properties:</a:t>
            </a:r>
            <a:endParaRPr/>
          </a:p>
        </p:txBody>
      </p:sp>
      <p:pic>
        <p:nvPicPr>
          <p:cNvPr id="193" name="Google Shape;193;p19"/>
          <p:cNvPicPr preferRelativeResize="0"/>
          <p:nvPr/>
        </p:nvPicPr>
        <p:blipFill>
          <a:blip r:embed="rId6"/>
          <a:srcRect/>
          <a:stretch/>
        </p:blipFill>
        <p:spPr>
          <a:xfrm>
            <a:off x="6381750" y="1753046"/>
            <a:ext cx="5200650" cy="3900487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904875" y="2468909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font-size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(size of text)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904875" y="3025080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font-family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(typeface)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904875" y="3581251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font-weight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(boldness)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904875" y="4137421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font-style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(italic, etc.)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809625" y="5293667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74C3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1057275" y="5293667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1304925" y="5293667"/>
            <a:ext cx="185737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498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font-size</a:t>
            </a:r>
            <a:endParaRPr dirty="0"/>
          </a:p>
        </p:txBody>
      </p:sp>
      <p:sp>
        <p:nvSpPr>
          <p:cNvPr id="201" name="Google Shape;201;p19"/>
          <p:cNvSpPr txBox="1"/>
          <p:nvPr/>
        </p:nvSpPr>
        <p:spPr>
          <a:xfrm>
            <a:off x="2419350" y="5293667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2666999" y="5293667"/>
            <a:ext cx="86677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2ECC7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20px</a:t>
            </a:r>
            <a:endParaRPr dirty="0"/>
          </a:p>
        </p:txBody>
      </p:sp>
      <p:sp>
        <p:nvSpPr>
          <p:cNvPr id="203" name="Google Shape;203;p19"/>
          <p:cNvSpPr txBox="1"/>
          <p:nvPr/>
        </p:nvSpPr>
        <p:spPr>
          <a:xfrm>
            <a:off x="3162300" y="5293667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3409950" y="5293667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Font Basics</a:t>
            </a:r>
            <a:endParaRPr/>
          </a:p>
        </p:txBody>
      </p:sp>
      <p:pic>
        <p:nvPicPr>
          <p:cNvPr id="207" name="Google Shape;207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50700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06318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61935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175521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29880"/>
            <a:ext cx="5200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91980"/>
            <a:ext cx="520065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571500" y="2143125"/>
            <a:ext cx="520065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Which CSS property changes the text size?</a:t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8934450" y="-981736"/>
            <a:ext cx="3810000" cy="3810000"/>
          </a:xfrm>
          <a:prstGeom prst="roundRect">
            <a:avLst>
              <a:gd name="adj" fmla="val 16667"/>
            </a:avLst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Quiz Time!</a:t>
            </a:r>
            <a:endParaRPr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50ADC5B-BCDA-3CE8-AF2D-29D5B0AE1235}"/>
              </a:ext>
            </a:extLst>
          </p:cNvPr>
          <p:cNvSpPr/>
          <p:nvPr/>
        </p:nvSpPr>
        <p:spPr>
          <a:xfrm>
            <a:off x="571500" y="4110930"/>
            <a:ext cx="5200650" cy="638174"/>
          </a:xfrm>
          <a:prstGeom prst="roundRect">
            <a:avLst/>
          </a:prstGeom>
          <a:solidFill>
            <a:schemeClr val="bg1"/>
          </a:solidFill>
          <a:ln>
            <a:solidFill>
              <a:srgbClr val="BAC0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700" dirty="0">
                <a:solidFill>
                  <a:srgbClr val="65787C"/>
                </a:solidFill>
              </a:rPr>
              <a:t>  B) font-size</a:t>
            </a:r>
            <a:endParaRPr lang="en-GB" sz="1700" dirty="0">
              <a:solidFill>
                <a:srgbClr val="65787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>
          <a:extLst>
            <a:ext uri="{FF2B5EF4-FFF2-40B4-BE49-F238E27FC236}">
              <a16:creationId xmlns:a16="http://schemas.microsoft.com/office/drawing/2014/main" id="{CB3A2624-2872-C1F6-A688-3E0D8122F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 descr="image.png">
            <a:extLst>
              <a:ext uri="{FF2B5EF4-FFF2-40B4-BE49-F238E27FC236}">
                <a16:creationId xmlns:a16="http://schemas.microsoft.com/office/drawing/2014/main" id="{3C7187FE-F8A5-A6B0-5439-918311FA38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image.png">
            <a:extLst>
              <a:ext uri="{FF2B5EF4-FFF2-40B4-BE49-F238E27FC236}">
                <a16:creationId xmlns:a16="http://schemas.microsoft.com/office/drawing/2014/main" id="{232C64FC-8FCD-46EC-BAF0-BD656457077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29880"/>
            <a:ext cx="5200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descr="image.png">
            <a:extLst>
              <a:ext uri="{FF2B5EF4-FFF2-40B4-BE49-F238E27FC236}">
                <a16:creationId xmlns:a16="http://schemas.microsoft.com/office/drawing/2014/main" id="{7398111D-A692-B735-D658-B76D0A52077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10930"/>
            <a:ext cx="5200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image.png">
            <a:extLst>
              <a:ext uri="{FF2B5EF4-FFF2-40B4-BE49-F238E27FC236}">
                <a16:creationId xmlns:a16="http://schemas.microsoft.com/office/drawing/2014/main" id="{30A806BE-9432-706A-6BA2-9C75F37DA03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891980"/>
            <a:ext cx="520065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>
            <a:extLst>
              <a:ext uri="{FF2B5EF4-FFF2-40B4-BE49-F238E27FC236}">
                <a16:creationId xmlns:a16="http://schemas.microsoft.com/office/drawing/2014/main" id="{ECE3424E-2FB0-DB97-FFFE-CDC348A19FB1}"/>
              </a:ext>
            </a:extLst>
          </p:cNvPr>
          <p:cNvSpPr txBox="1"/>
          <p:nvPr/>
        </p:nvSpPr>
        <p:spPr>
          <a:xfrm>
            <a:off x="571500" y="2143125"/>
            <a:ext cx="520065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Which CSS property changes the text size?</a:t>
            </a:r>
            <a:endParaRPr/>
          </a:p>
        </p:txBody>
      </p:sp>
      <p:sp>
        <p:nvSpPr>
          <p:cNvPr id="222" name="Google Shape;222;p20">
            <a:extLst>
              <a:ext uri="{FF2B5EF4-FFF2-40B4-BE49-F238E27FC236}">
                <a16:creationId xmlns:a16="http://schemas.microsoft.com/office/drawing/2014/main" id="{1604B735-AE6A-4E18-012A-42CDE99590C6}"/>
              </a:ext>
            </a:extLst>
          </p:cNvPr>
          <p:cNvSpPr/>
          <p:nvPr/>
        </p:nvSpPr>
        <p:spPr>
          <a:xfrm>
            <a:off x="9334500" y="-952500"/>
            <a:ext cx="3810000" cy="3810000"/>
          </a:xfrm>
          <a:prstGeom prst="roundRect">
            <a:avLst>
              <a:gd name="adj" fmla="val 16667"/>
            </a:avLst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>
            <a:extLst>
              <a:ext uri="{FF2B5EF4-FFF2-40B4-BE49-F238E27FC236}">
                <a16:creationId xmlns:a16="http://schemas.microsoft.com/office/drawing/2014/main" id="{2CA496CE-49D5-C3C5-175F-BBF04165BFCB}"/>
              </a:ext>
            </a:extLst>
          </p:cNvPr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Quiz Time!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2206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571500" y="2489001"/>
            <a:ext cx="52006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Understanding spacing is crucial:</a:t>
            </a:r>
            <a:endParaRPr/>
          </a:p>
        </p:txBody>
      </p:sp>
      <p:pic>
        <p:nvPicPr>
          <p:cNvPr id="231" name="Google Shape;23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598265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904875" y="3149947"/>
            <a:ext cx="48672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Margin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= Space </a:t>
            </a:r>
            <a:r>
              <a:rPr lang="en-US" sz="1800" b="0" i="1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outside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the element (pushes others away).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904875" y="4071788"/>
            <a:ext cx="48672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Padding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= Space </a:t>
            </a:r>
            <a:r>
              <a:rPr lang="en-US" sz="1800" b="0" i="1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inside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the element (pushes content inward).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Margins &amp; Padding</a:t>
            </a:r>
            <a:endParaRPr/>
          </a:p>
        </p:txBody>
      </p:sp>
      <p:pic>
        <p:nvPicPr>
          <p:cNvPr id="236" name="Google Shape;23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18804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09888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530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506985"/>
            <a:ext cx="5200650" cy="141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 txBox="1"/>
          <p:nvPr/>
        </p:nvSpPr>
        <p:spPr>
          <a:xfrm>
            <a:off x="6381750" y="2746920"/>
            <a:ext cx="52006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Add 20px padding to a div.</a:t>
            </a:r>
            <a:endParaRPr/>
          </a:p>
        </p:txBody>
      </p:sp>
      <p:pic>
        <p:nvPicPr>
          <p:cNvPr id="246" name="Google Shape;24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875" y="1598265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/>
        </p:nvSpPr>
        <p:spPr>
          <a:xfrm>
            <a:off x="6619875" y="3764160"/>
            <a:ext cx="4953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74C3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div</a:t>
            </a:r>
            <a:endParaRPr dirty="0"/>
          </a:p>
        </p:txBody>
      </p:sp>
      <p:sp>
        <p:nvSpPr>
          <p:cNvPr id="248" name="Google Shape;248;p22"/>
          <p:cNvSpPr txBox="1"/>
          <p:nvPr/>
        </p:nvSpPr>
        <p:spPr>
          <a:xfrm>
            <a:off x="7115175" y="3764160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6867525" y="4078484"/>
            <a:ext cx="9906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498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padding</a:t>
            </a:r>
            <a:endParaRPr dirty="0"/>
          </a:p>
        </p:txBody>
      </p:sp>
      <p:sp>
        <p:nvSpPr>
          <p:cNvPr id="250" name="Google Shape;250;p22"/>
          <p:cNvSpPr txBox="1"/>
          <p:nvPr/>
        </p:nvSpPr>
        <p:spPr>
          <a:xfrm>
            <a:off x="7734300" y="4078485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7981949" y="4078484"/>
            <a:ext cx="61912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2ECC7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20px</a:t>
            </a:r>
            <a:endParaRPr dirty="0"/>
          </a:p>
        </p:txBody>
      </p:sp>
      <p:sp>
        <p:nvSpPr>
          <p:cNvPr id="252" name="Google Shape;252;p22"/>
          <p:cNvSpPr txBox="1"/>
          <p:nvPr/>
        </p:nvSpPr>
        <p:spPr>
          <a:xfrm>
            <a:off x="8477250" y="4078485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6619875" y="4392810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Coding Challenge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" grpId="0"/>
      <p:bldP spid="248" grpId="0"/>
      <p:bldP spid="249" grpId="0"/>
      <p:bldP spid="250" grpId="0"/>
      <p:bldP spid="251" grpId="0"/>
      <p:bldP spid="252" grpId="0"/>
      <p:bldP spid="25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571500" y="2393751"/>
            <a:ext cx="52006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You can style borders with three main properties:</a:t>
            </a:r>
            <a:endParaRPr/>
          </a:p>
        </p:txBody>
      </p:sp>
      <p:pic>
        <p:nvPicPr>
          <p:cNvPr id="263" name="Google Shape;26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598265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/>
        </p:nvSpPr>
        <p:spPr>
          <a:xfrm>
            <a:off x="904875" y="3420367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border-width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(how thick)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904875" y="3976538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border-style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(solid, dotted, dashed)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904875" y="4532709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border-color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(the color)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Borders Overview</a:t>
            </a:r>
            <a:endParaRPr/>
          </a:p>
        </p:txBody>
      </p:sp>
      <p:pic>
        <p:nvPicPr>
          <p:cNvPr id="269" name="Google Shape;269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5846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1463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70809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25935"/>
            <a:ext cx="5200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06985"/>
            <a:ext cx="5200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069085"/>
            <a:ext cx="520065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4"/>
          <p:cNvSpPr txBox="1"/>
          <p:nvPr/>
        </p:nvSpPr>
        <p:spPr>
          <a:xfrm>
            <a:off x="571500" y="1965870"/>
            <a:ext cx="52006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Which one is NOT a border style?</a:t>
            </a:r>
            <a:endParaRPr/>
          </a:p>
        </p:txBody>
      </p:sp>
      <p:pic>
        <p:nvPicPr>
          <p:cNvPr id="283" name="Google Shape;283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1598265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4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Quiz Time!</a:t>
            </a:r>
            <a:endParaRPr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7F0DA18-C05B-67BD-F848-41EC3A32C07A}"/>
              </a:ext>
            </a:extLst>
          </p:cNvPr>
          <p:cNvSpPr/>
          <p:nvPr/>
        </p:nvSpPr>
        <p:spPr>
          <a:xfrm>
            <a:off x="571500" y="4288035"/>
            <a:ext cx="5200650" cy="638174"/>
          </a:xfrm>
          <a:prstGeom prst="roundRect">
            <a:avLst/>
          </a:prstGeom>
          <a:solidFill>
            <a:schemeClr val="bg1"/>
          </a:solidFill>
          <a:ln>
            <a:solidFill>
              <a:srgbClr val="BAC0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700" dirty="0">
                <a:solidFill>
                  <a:srgbClr val="65787C"/>
                </a:solidFill>
              </a:rPr>
              <a:t>  C) invisible</a:t>
            </a:r>
            <a:endParaRPr lang="en-GB" sz="1700" dirty="0">
              <a:solidFill>
                <a:srgbClr val="65787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6E9E3838-5A7D-086D-818B-67C3B60F8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4" descr="image.png">
            <a:extLst>
              <a:ext uri="{FF2B5EF4-FFF2-40B4-BE49-F238E27FC236}">
                <a16:creationId xmlns:a16="http://schemas.microsoft.com/office/drawing/2014/main" id="{786FF7AC-FE62-70C8-7BA6-891F108401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4" descr="image.png">
            <a:extLst>
              <a:ext uri="{FF2B5EF4-FFF2-40B4-BE49-F238E27FC236}">
                <a16:creationId xmlns:a16="http://schemas.microsoft.com/office/drawing/2014/main" id="{E286A894-5A71-813D-7BE5-D5A98DB63F2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4" descr="image.png">
            <a:extLst>
              <a:ext uri="{FF2B5EF4-FFF2-40B4-BE49-F238E27FC236}">
                <a16:creationId xmlns:a16="http://schemas.microsoft.com/office/drawing/2014/main" id="{53914BF1-6133-0DEE-5593-DF750687050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25935"/>
            <a:ext cx="5200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4" descr="image.png">
            <a:extLst>
              <a:ext uri="{FF2B5EF4-FFF2-40B4-BE49-F238E27FC236}">
                <a16:creationId xmlns:a16="http://schemas.microsoft.com/office/drawing/2014/main" id="{6EA0574E-525F-098E-9BD7-31B1328FF2E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06985"/>
            <a:ext cx="5200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4" descr="image.png">
            <a:extLst>
              <a:ext uri="{FF2B5EF4-FFF2-40B4-BE49-F238E27FC236}">
                <a16:creationId xmlns:a16="http://schemas.microsoft.com/office/drawing/2014/main" id="{A33B2782-482B-34D4-172C-14AEEE51F9F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288035"/>
            <a:ext cx="5200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4" descr="image.png">
            <a:extLst>
              <a:ext uri="{FF2B5EF4-FFF2-40B4-BE49-F238E27FC236}">
                <a16:creationId xmlns:a16="http://schemas.microsoft.com/office/drawing/2014/main" id="{71C7755C-F680-72B3-9EE1-97200BC79D0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069085"/>
            <a:ext cx="520065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4">
            <a:extLst>
              <a:ext uri="{FF2B5EF4-FFF2-40B4-BE49-F238E27FC236}">
                <a16:creationId xmlns:a16="http://schemas.microsoft.com/office/drawing/2014/main" id="{E16E2377-C232-DE65-2A24-FB1F4A9249B8}"/>
              </a:ext>
            </a:extLst>
          </p:cNvPr>
          <p:cNvSpPr txBox="1"/>
          <p:nvPr/>
        </p:nvSpPr>
        <p:spPr>
          <a:xfrm>
            <a:off x="571500" y="1965870"/>
            <a:ext cx="52006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Which one is NOT a border style?</a:t>
            </a:r>
            <a:endParaRPr/>
          </a:p>
        </p:txBody>
      </p:sp>
      <p:pic>
        <p:nvPicPr>
          <p:cNvPr id="283" name="Google Shape;283;p24" descr="image.png">
            <a:extLst>
              <a:ext uri="{FF2B5EF4-FFF2-40B4-BE49-F238E27FC236}">
                <a16:creationId xmlns:a16="http://schemas.microsoft.com/office/drawing/2014/main" id="{A23FC812-A36F-311D-F27C-4A0AB76CF19E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81750" y="1598265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4">
            <a:extLst>
              <a:ext uri="{FF2B5EF4-FFF2-40B4-BE49-F238E27FC236}">
                <a16:creationId xmlns:a16="http://schemas.microsoft.com/office/drawing/2014/main" id="{9678F2F7-B1CC-EDCE-DB38-3F626E9E6C3D}"/>
              </a:ext>
            </a:extLst>
          </p:cNvPr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Quiz Time!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54061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5"/>
          <p:cNvSpPr txBox="1"/>
          <p:nvPr/>
        </p:nvSpPr>
        <p:spPr>
          <a:xfrm>
            <a:off x="6343650" y="2576661"/>
            <a:ext cx="52006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How to target elements:</a:t>
            </a:r>
            <a:endParaRPr/>
          </a:p>
        </p:txBody>
      </p:sp>
      <p:pic>
        <p:nvPicPr>
          <p:cNvPr id="293" name="Google Shape;29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598265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5"/>
          <p:cNvSpPr txBox="1"/>
          <p:nvPr/>
        </p:nvSpPr>
        <p:spPr>
          <a:xfrm>
            <a:off x="6677025" y="3237607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Element selector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(e.g., p, h1)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6677025" y="3793777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Class selector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(starts with </a:t>
            </a: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e.g., .box)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6677025" y="4349948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ID selector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(starts with </a:t>
            </a: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#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e.g., #header)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Basic CSS Selectors</a:t>
            </a:r>
            <a:endParaRPr/>
          </a:p>
        </p:txBody>
      </p:sp>
      <p:pic>
        <p:nvPicPr>
          <p:cNvPr id="299" name="Google Shape;299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327570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383187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4388048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20405"/>
            <a:ext cx="5200650" cy="141922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6"/>
          <p:cNvSpPr txBox="1"/>
          <p:nvPr/>
        </p:nvSpPr>
        <p:spPr>
          <a:xfrm>
            <a:off x="571500" y="2533650"/>
            <a:ext cx="520065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Style a class called "box" to be 100px wide.</a:t>
            </a:r>
            <a:endParaRPr/>
          </a:p>
        </p:txBody>
      </p:sp>
      <p:pic>
        <p:nvPicPr>
          <p:cNvPr id="310" name="Google Shape;310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1598265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6"/>
          <p:cNvSpPr txBox="1"/>
          <p:nvPr/>
        </p:nvSpPr>
        <p:spPr>
          <a:xfrm>
            <a:off x="809625" y="3977579"/>
            <a:ext cx="74295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74C3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.box</a:t>
            </a:r>
            <a:endParaRPr dirty="0"/>
          </a:p>
        </p:txBody>
      </p:sp>
      <p:sp>
        <p:nvSpPr>
          <p:cNvPr id="312" name="Google Shape;312;p26"/>
          <p:cNvSpPr txBox="1"/>
          <p:nvPr/>
        </p:nvSpPr>
        <p:spPr>
          <a:xfrm>
            <a:off x="1428750" y="3977580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/>
          </a:p>
        </p:txBody>
      </p:sp>
      <p:sp>
        <p:nvSpPr>
          <p:cNvPr id="313" name="Google Shape;313;p26"/>
          <p:cNvSpPr txBox="1"/>
          <p:nvPr/>
        </p:nvSpPr>
        <p:spPr>
          <a:xfrm>
            <a:off x="1057275" y="4291904"/>
            <a:ext cx="9144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498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width</a:t>
            </a:r>
            <a:endParaRPr dirty="0"/>
          </a:p>
        </p:txBody>
      </p:sp>
      <p:sp>
        <p:nvSpPr>
          <p:cNvPr id="314" name="Google Shape;314;p26"/>
          <p:cNvSpPr txBox="1"/>
          <p:nvPr/>
        </p:nvSpPr>
        <p:spPr>
          <a:xfrm>
            <a:off x="1676400" y="4291905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/>
          </a:p>
        </p:txBody>
      </p:sp>
      <p:sp>
        <p:nvSpPr>
          <p:cNvPr id="315" name="Google Shape;315;p26"/>
          <p:cNvSpPr txBox="1"/>
          <p:nvPr/>
        </p:nvSpPr>
        <p:spPr>
          <a:xfrm>
            <a:off x="1924050" y="4291905"/>
            <a:ext cx="74295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2ECC7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100px</a:t>
            </a:r>
            <a:endParaRPr dirty="0"/>
          </a:p>
        </p:txBody>
      </p:sp>
      <p:sp>
        <p:nvSpPr>
          <p:cNvPr id="316" name="Google Shape;316;p26"/>
          <p:cNvSpPr txBox="1"/>
          <p:nvPr/>
        </p:nvSpPr>
        <p:spPr>
          <a:xfrm>
            <a:off x="2543175" y="4291905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/>
          </a:p>
        </p:txBody>
      </p:sp>
      <p:sp>
        <p:nvSpPr>
          <p:cNvPr id="317" name="Google Shape;317;p26"/>
          <p:cNvSpPr txBox="1"/>
          <p:nvPr/>
        </p:nvSpPr>
        <p:spPr>
          <a:xfrm>
            <a:off x="809625" y="4606230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/>
          </a:p>
        </p:txBody>
      </p:sp>
      <p:sp>
        <p:nvSpPr>
          <p:cNvPr id="319" name="Google Shape;319;p26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Coding Challenge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" grpId="0"/>
      <p:bldP spid="312" grpId="0"/>
      <p:bldP spid="313" grpId="0"/>
      <p:bldP spid="314" grpId="0"/>
      <p:bldP spid="315" grpId="0"/>
      <p:bldP spid="316" grpId="0"/>
      <p:bldP spid="3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90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7"/>
          <p:cNvSpPr txBox="1"/>
          <p:nvPr/>
        </p:nvSpPr>
        <p:spPr>
          <a:xfrm>
            <a:off x="6381750" y="2393751"/>
            <a:ext cx="52006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Control how elements sit on the page:</a:t>
            </a:r>
            <a:endParaRPr/>
          </a:p>
        </p:txBody>
      </p:sp>
      <p:pic>
        <p:nvPicPr>
          <p:cNvPr id="327" name="Google Shape;327;p27"/>
          <p:cNvPicPr preferRelativeResize="0"/>
          <p:nvPr/>
        </p:nvPicPr>
        <p:blipFill>
          <a:blip r:embed="rId5"/>
          <a:srcRect/>
          <a:stretch/>
        </p:blipFill>
        <p:spPr>
          <a:xfrm>
            <a:off x="381000" y="2240607"/>
            <a:ext cx="5200650" cy="292536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7"/>
          <p:cNvSpPr txBox="1"/>
          <p:nvPr/>
        </p:nvSpPr>
        <p:spPr>
          <a:xfrm>
            <a:off x="6715125" y="3054697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block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(Starts on a new line, full width)</a:t>
            </a:r>
            <a:endParaRPr/>
          </a:p>
        </p:txBody>
      </p:sp>
      <p:sp>
        <p:nvSpPr>
          <p:cNvPr id="329" name="Google Shape;329;p27"/>
          <p:cNvSpPr txBox="1"/>
          <p:nvPr/>
        </p:nvSpPr>
        <p:spPr>
          <a:xfrm>
            <a:off x="6715125" y="3610867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inline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(Sits on the same line, like text)</a:t>
            </a:r>
            <a:endParaRPr/>
          </a:p>
        </p:txBody>
      </p:sp>
      <p:sp>
        <p:nvSpPr>
          <p:cNvPr id="330" name="Google Shape;330;p27"/>
          <p:cNvSpPr txBox="1"/>
          <p:nvPr/>
        </p:nvSpPr>
        <p:spPr>
          <a:xfrm>
            <a:off x="6715125" y="4167038"/>
            <a:ext cx="48672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inline-block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(Same line, but respects width/height)</a:t>
            </a:r>
            <a:endParaRPr/>
          </a:p>
        </p:txBody>
      </p:sp>
      <p:sp>
        <p:nvSpPr>
          <p:cNvPr id="332" name="Google Shape;332;p27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CSS Display Types</a:t>
            </a:r>
            <a:endParaRPr dirty="0"/>
          </a:p>
        </p:txBody>
      </p:sp>
      <p:pic>
        <p:nvPicPr>
          <p:cNvPr id="333" name="Google Shape;333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09279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64896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4205138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29880"/>
            <a:ext cx="5200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891980"/>
            <a:ext cx="520065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8"/>
          <p:cNvSpPr txBox="1"/>
          <p:nvPr/>
        </p:nvSpPr>
        <p:spPr>
          <a:xfrm>
            <a:off x="571500" y="2143125"/>
            <a:ext cx="520065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Which display makes an element start on a new line?</a:t>
            </a:r>
            <a:endParaRPr/>
          </a:p>
        </p:txBody>
      </p:sp>
      <p:pic>
        <p:nvPicPr>
          <p:cNvPr id="346" name="Google Shape;346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1598265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8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Quiz Time!</a:t>
            </a:r>
            <a:endParaRPr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55E14DF-1A9C-64B6-163E-AF00E0EBBBAE}"/>
              </a:ext>
            </a:extLst>
          </p:cNvPr>
          <p:cNvSpPr/>
          <p:nvPr/>
        </p:nvSpPr>
        <p:spPr>
          <a:xfrm>
            <a:off x="571500" y="4110930"/>
            <a:ext cx="5200650" cy="638174"/>
          </a:xfrm>
          <a:prstGeom prst="roundRect">
            <a:avLst/>
          </a:prstGeom>
          <a:solidFill>
            <a:schemeClr val="bg1"/>
          </a:solidFill>
          <a:ln>
            <a:solidFill>
              <a:srgbClr val="BAC0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700" dirty="0">
                <a:solidFill>
                  <a:srgbClr val="65787C"/>
                </a:solidFill>
              </a:rPr>
              <a:t>  B) block</a:t>
            </a:r>
            <a:endParaRPr lang="en-GB" sz="1700" dirty="0">
              <a:solidFill>
                <a:srgbClr val="65787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B4800900-60C1-A2E6-4D15-BE5C10D7B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8" descr="image.png">
            <a:extLst>
              <a:ext uri="{FF2B5EF4-FFF2-40B4-BE49-F238E27FC236}">
                <a16:creationId xmlns:a16="http://schemas.microsoft.com/office/drawing/2014/main" id="{559E14C5-029E-E669-2A8A-5CCF527230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8" descr="image.png">
            <a:extLst>
              <a:ext uri="{FF2B5EF4-FFF2-40B4-BE49-F238E27FC236}">
                <a16:creationId xmlns:a16="http://schemas.microsoft.com/office/drawing/2014/main" id="{8F5D4F84-D9C4-9B06-1D40-C81E558E3A8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8" descr="image.png">
            <a:extLst>
              <a:ext uri="{FF2B5EF4-FFF2-40B4-BE49-F238E27FC236}">
                <a16:creationId xmlns:a16="http://schemas.microsoft.com/office/drawing/2014/main" id="{525854D7-3FF6-AF1F-6582-3931970732B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29880"/>
            <a:ext cx="5200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8" descr="image.png">
            <a:extLst>
              <a:ext uri="{FF2B5EF4-FFF2-40B4-BE49-F238E27FC236}">
                <a16:creationId xmlns:a16="http://schemas.microsoft.com/office/drawing/2014/main" id="{6E2AB291-D7F5-20BF-7895-AF32384B26F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10930"/>
            <a:ext cx="5200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8" descr="image.png">
            <a:extLst>
              <a:ext uri="{FF2B5EF4-FFF2-40B4-BE49-F238E27FC236}">
                <a16:creationId xmlns:a16="http://schemas.microsoft.com/office/drawing/2014/main" id="{A5EC68E5-D674-AC09-2358-4567B0F43C5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891980"/>
            <a:ext cx="520065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8">
            <a:extLst>
              <a:ext uri="{FF2B5EF4-FFF2-40B4-BE49-F238E27FC236}">
                <a16:creationId xmlns:a16="http://schemas.microsoft.com/office/drawing/2014/main" id="{8AC800BF-0C59-366C-DEB1-AF1612B2B9BE}"/>
              </a:ext>
            </a:extLst>
          </p:cNvPr>
          <p:cNvSpPr txBox="1"/>
          <p:nvPr/>
        </p:nvSpPr>
        <p:spPr>
          <a:xfrm>
            <a:off x="571500" y="2143125"/>
            <a:ext cx="520065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Which display makes an element start on a new line?</a:t>
            </a:r>
            <a:endParaRPr/>
          </a:p>
        </p:txBody>
      </p:sp>
      <p:pic>
        <p:nvPicPr>
          <p:cNvPr id="346" name="Google Shape;346;p28" descr="image.png">
            <a:extLst>
              <a:ext uri="{FF2B5EF4-FFF2-40B4-BE49-F238E27FC236}">
                <a16:creationId xmlns:a16="http://schemas.microsoft.com/office/drawing/2014/main" id="{E5071FCF-5576-BECD-1D3F-32450C73955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1598265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8">
            <a:extLst>
              <a:ext uri="{FF2B5EF4-FFF2-40B4-BE49-F238E27FC236}">
                <a16:creationId xmlns:a16="http://schemas.microsoft.com/office/drawing/2014/main" id="{D55578B5-A38E-0A6D-236A-F5737ABE284A}"/>
              </a:ext>
            </a:extLst>
          </p:cNvPr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Quiz Time!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55538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9"/>
          <p:cNvSpPr txBox="1"/>
          <p:nvPr/>
        </p:nvSpPr>
        <p:spPr>
          <a:xfrm>
            <a:off x="571500" y="2393751"/>
            <a:ext cx="52006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More than just colors:</a:t>
            </a:r>
            <a:endParaRPr/>
          </a:p>
        </p:txBody>
      </p:sp>
      <p:pic>
        <p:nvPicPr>
          <p:cNvPr id="356" name="Google Shape;356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598265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9"/>
          <p:cNvSpPr txBox="1"/>
          <p:nvPr/>
        </p:nvSpPr>
        <p:spPr>
          <a:xfrm>
            <a:off x="904875" y="3054697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background-color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(Fill color)</a:t>
            </a:r>
            <a:endParaRPr/>
          </a:p>
        </p:txBody>
      </p:sp>
      <p:sp>
        <p:nvSpPr>
          <p:cNvPr id="358" name="Google Shape;358;p29"/>
          <p:cNvSpPr txBox="1"/>
          <p:nvPr/>
        </p:nvSpPr>
        <p:spPr>
          <a:xfrm>
            <a:off x="904875" y="3610867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background-image</a:t>
            </a:r>
            <a:r>
              <a:rPr lang="en-US" sz="1800" b="0" i="0" u="none" strike="noStrike" cap="none" dirty="0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(Use an image URL)</a:t>
            </a:r>
            <a:endParaRPr dirty="0"/>
          </a:p>
        </p:txBody>
      </p:sp>
      <p:sp>
        <p:nvSpPr>
          <p:cNvPr id="359" name="Google Shape;359;p29"/>
          <p:cNvSpPr txBox="1"/>
          <p:nvPr/>
        </p:nvSpPr>
        <p:spPr>
          <a:xfrm>
            <a:off x="904875" y="4167038"/>
            <a:ext cx="48672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background-size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(Control how the image fits)</a:t>
            </a:r>
            <a:endParaRPr/>
          </a:p>
        </p:txBody>
      </p:sp>
      <p:sp>
        <p:nvSpPr>
          <p:cNvPr id="361" name="Google Shape;361;p29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Background Properties</a:t>
            </a:r>
            <a:endParaRPr dirty="0"/>
          </a:p>
        </p:txBody>
      </p:sp>
      <p:pic>
        <p:nvPicPr>
          <p:cNvPr id="362" name="Google Shape;362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09279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64896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05138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720405"/>
            <a:ext cx="5200650" cy="141922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0"/>
          <p:cNvSpPr txBox="1"/>
          <p:nvPr/>
        </p:nvSpPr>
        <p:spPr>
          <a:xfrm>
            <a:off x="6381750" y="2533650"/>
            <a:ext cx="520065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Set a background image for the body.</a:t>
            </a:r>
            <a:endParaRPr/>
          </a:p>
        </p:txBody>
      </p:sp>
      <p:pic>
        <p:nvPicPr>
          <p:cNvPr id="373" name="Google Shape;373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598265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0"/>
          <p:cNvSpPr txBox="1"/>
          <p:nvPr/>
        </p:nvSpPr>
        <p:spPr>
          <a:xfrm>
            <a:off x="6619874" y="3977579"/>
            <a:ext cx="61912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74C3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body</a:t>
            </a:r>
            <a:endParaRPr dirty="0"/>
          </a:p>
        </p:txBody>
      </p:sp>
      <p:sp>
        <p:nvSpPr>
          <p:cNvPr id="375" name="Google Shape;375;p30"/>
          <p:cNvSpPr txBox="1"/>
          <p:nvPr/>
        </p:nvSpPr>
        <p:spPr>
          <a:xfrm>
            <a:off x="7239000" y="3977580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/>
          </a:p>
        </p:txBody>
      </p:sp>
      <p:sp>
        <p:nvSpPr>
          <p:cNvPr id="376" name="Google Shape;376;p30"/>
          <p:cNvSpPr txBox="1"/>
          <p:nvPr/>
        </p:nvSpPr>
        <p:spPr>
          <a:xfrm>
            <a:off x="6867525" y="4291904"/>
            <a:ext cx="222885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498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background-image</a:t>
            </a:r>
            <a:endParaRPr dirty="0"/>
          </a:p>
        </p:txBody>
      </p:sp>
      <p:sp>
        <p:nvSpPr>
          <p:cNvPr id="377" name="Google Shape;377;p30"/>
          <p:cNvSpPr txBox="1"/>
          <p:nvPr/>
        </p:nvSpPr>
        <p:spPr>
          <a:xfrm>
            <a:off x="8848725" y="4291905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/>
          </a:p>
        </p:txBody>
      </p:sp>
      <p:sp>
        <p:nvSpPr>
          <p:cNvPr id="378" name="Google Shape;378;p30"/>
          <p:cNvSpPr txBox="1"/>
          <p:nvPr/>
        </p:nvSpPr>
        <p:spPr>
          <a:xfrm>
            <a:off x="9096375" y="4291905"/>
            <a:ext cx="1733550" cy="380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2ECC7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url</a:t>
            </a:r>
            <a:r>
              <a:rPr lang="en-US" sz="1650" b="0" i="0" u="none" strike="noStrike" cap="none" dirty="0">
                <a:solidFill>
                  <a:srgbClr val="2ECC7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('bg.png')</a:t>
            </a:r>
            <a:endParaRPr dirty="0"/>
          </a:p>
        </p:txBody>
      </p:sp>
      <p:sp>
        <p:nvSpPr>
          <p:cNvPr id="379" name="Google Shape;379;p30"/>
          <p:cNvSpPr txBox="1"/>
          <p:nvPr/>
        </p:nvSpPr>
        <p:spPr>
          <a:xfrm>
            <a:off x="10706100" y="4291905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/>
          </a:p>
        </p:txBody>
      </p:sp>
      <p:sp>
        <p:nvSpPr>
          <p:cNvPr id="380" name="Google Shape;380;p30"/>
          <p:cNvSpPr txBox="1"/>
          <p:nvPr/>
        </p:nvSpPr>
        <p:spPr>
          <a:xfrm>
            <a:off x="6619875" y="4606230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/>
          </a:p>
        </p:txBody>
      </p:sp>
      <p:sp>
        <p:nvSpPr>
          <p:cNvPr id="382" name="Google Shape;382;p30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Coding Challenge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" grpId="0"/>
      <p:bldP spid="375" grpId="0"/>
      <p:bldP spid="376" grpId="0"/>
      <p:bldP spid="377" grpId="0"/>
      <p:bldP spid="378" grpId="0"/>
      <p:bldP spid="379" grpId="0"/>
      <p:bldP spid="38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1"/>
          <p:cNvSpPr txBox="1"/>
          <p:nvPr/>
        </p:nvSpPr>
        <p:spPr>
          <a:xfrm>
            <a:off x="571500" y="2298501"/>
            <a:ext cx="52006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Every element is a box composed of:</a:t>
            </a:r>
            <a:endParaRPr/>
          </a:p>
        </p:txBody>
      </p:sp>
      <p:pic>
        <p:nvPicPr>
          <p:cNvPr id="390" name="Google Shape;390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598265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1"/>
          <p:cNvSpPr txBox="1"/>
          <p:nvPr/>
        </p:nvSpPr>
        <p:spPr>
          <a:xfrm>
            <a:off x="904875" y="2959447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Content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(The actual text/image)</a:t>
            </a:r>
            <a:endParaRPr/>
          </a:p>
        </p:txBody>
      </p:sp>
      <p:sp>
        <p:nvSpPr>
          <p:cNvPr id="392" name="Google Shape;392;p31"/>
          <p:cNvSpPr txBox="1"/>
          <p:nvPr/>
        </p:nvSpPr>
        <p:spPr>
          <a:xfrm>
            <a:off x="904875" y="3515617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Padding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(Space around content)</a:t>
            </a:r>
            <a:endParaRPr/>
          </a:p>
        </p:txBody>
      </p:sp>
      <p:sp>
        <p:nvSpPr>
          <p:cNvPr id="393" name="Google Shape;393;p31"/>
          <p:cNvSpPr txBox="1"/>
          <p:nvPr/>
        </p:nvSpPr>
        <p:spPr>
          <a:xfrm>
            <a:off x="904875" y="4071788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Border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(Around padding)</a:t>
            </a:r>
            <a:endParaRPr/>
          </a:p>
        </p:txBody>
      </p:sp>
      <p:sp>
        <p:nvSpPr>
          <p:cNvPr id="394" name="Google Shape;394;p31"/>
          <p:cNvSpPr txBox="1"/>
          <p:nvPr/>
        </p:nvSpPr>
        <p:spPr>
          <a:xfrm>
            <a:off x="904875" y="4627959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Margin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(Space outside border)</a:t>
            </a:r>
            <a:endParaRPr/>
          </a:p>
        </p:txBody>
      </p:sp>
      <p:sp>
        <p:nvSpPr>
          <p:cNvPr id="396" name="Google Shape;396;p31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The Box Model</a:t>
            </a:r>
            <a:endParaRPr/>
          </a:p>
        </p:txBody>
      </p:sp>
      <p:pic>
        <p:nvPicPr>
          <p:cNvPr id="397" name="Google Shape;397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99754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5371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0988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66059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16460"/>
            <a:ext cx="5200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78560"/>
            <a:ext cx="520065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2"/>
          <p:cNvSpPr txBox="1"/>
          <p:nvPr/>
        </p:nvSpPr>
        <p:spPr>
          <a:xfrm>
            <a:off x="571500" y="2356395"/>
            <a:ext cx="52006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Which part is inside the padding?</a:t>
            </a:r>
            <a:endParaRPr/>
          </a:p>
        </p:txBody>
      </p:sp>
      <p:pic>
        <p:nvPicPr>
          <p:cNvPr id="411" name="Google Shape;411;p3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1598265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2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Quiz Time!</a:t>
            </a:r>
            <a:endParaRPr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D6B721E-3B05-8966-CA1C-8FFB6BDFD35A}"/>
              </a:ext>
            </a:extLst>
          </p:cNvPr>
          <p:cNvSpPr/>
          <p:nvPr/>
        </p:nvSpPr>
        <p:spPr>
          <a:xfrm>
            <a:off x="571500" y="3897510"/>
            <a:ext cx="5200650" cy="638174"/>
          </a:xfrm>
          <a:prstGeom prst="roundRect">
            <a:avLst/>
          </a:prstGeom>
          <a:solidFill>
            <a:schemeClr val="bg1"/>
          </a:solidFill>
          <a:ln>
            <a:solidFill>
              <a:srgbClr val="BAC0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700" dirty="0">
                <a:solidFill>
                  <a:srgbClr val="65787C"/>
                </a:solidFill>
              </a:rPr>
              <a:t>  B) Content</a:t>
            </a:r>
            <a:endParaRPr lang="en-GB" sz="1700" dirty="0">
              <a:solidFill>
                <a:srgbClr val="65787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>
          <a:extLst>
            <a:ext uri="{FF2B5EF4-FFF2-40B4-BE49-F238E27FC236}">
              <a16:creationId xmlns:a16="http://schemas.microsoft.com/office/drawing/2014/main" id="{BED8E769-D440-A1D8-C082-A6633E931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32" descr="image.png">
            <a:extLst>
              <a:ext uri="{FF2B5EF4-FFF2-40B4-BE49-F238E27FC236}">
                <a16:creationId xmlns:a16="http://schemas.microsoft.com/office/drawing/2014/main" id="{E5798EE7-BD2E-B1BC-C1FB-1538176EE5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2" descr="image.png">
            <a:extLst>
              <a:ext uri="{FF2B5EF4-FFF2-40B4-BE49-F238E27FC236}">
                <a16:creationId xmlns:a16="http://schemas.microsoft.com/office/drawing/2014/main" id="{85BDF426-CC59-4732-0553-40842237CD0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2" descr="image.png">
            <a:extLst>
              <a:ext uri="{FF2B5EF4-FFF2-40B4-BE49-F238E27FC236}">
                <a16:creationId xmlns:a16="http://schemas.microsoft.com/office/drawing/2014/main" id="{61030E31-AB55-FDDB-47C6-15E617B5E62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16460"/>
            <a:ext cx="5200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2" descr="image.png">
            <a:extLst>
              <a:ext uri="{FF2B5EF4-FFF2-40B4-BE49-F238E27FC236}">
                <a16:creationId xmlns:a16="http://schemas.microsoft.com/office/drawing/2014/main" id="{65464098-27CC-F1FC-50F1-5301E4CD122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97510"/>
            <a:ext cx="5200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2" descr="image.png">
            <a:extLst>
              <a:ext uri="{FF2B5EF4-FFF2-40B4-BE49-F238E27FC236}">
                <a16:creationId xmlns:a16="http://schemas.microsoft.com/office/drawing/2014/main" id="{52A34298-D84F-B30C-1162-5521B30DECC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678560"/>
            <a:ext cx="520065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2">
            <a:extLst>
              <a:ext uri="{FF2B5EF4-FFF2-40B4-BE49-F238E27FC236}">
                <a16:creationId xmlns:a16="http://schemas.microsoft.com/office/drawing/2014/main" id="{4748D07F-0F51-F216-27AC-F619D43042E8}"/>
              </a:ext>
            </a:extLst>
          </p:cNvPr>
          <p:cNvSpPr txBox="1"/>
          <p:nvPr/>
        </p:nvSpPr>
        <p:spPr>
          <a:xfrm>
            <a:off x="571500" y="2356395"/>
            <a:ext cx="52006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Which part is inside the padding?</a:t>
            </a:r>
            <a:endParaRPr/>
          </a:p>
        </p:txBody>
      </p:sp>
      <p:pic>
        <p:nvPicPr>
          <p:cNvPr id="411" name="Google Shape;411;p32" descr="image.png">
            <a:extLst>
              <a:ext uri="{FF2B5EF4-FFF2-40B4-BE49-F238E27FC236}">
                <a16:creationId xmlns:a16="http://schemas.microsoft.com/office/drawing/2014/main" id="{D7F5403D-2C2A-BC9D-FBDB-547722E8DFE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1598265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2">
            <a:extLst>
              <a:ext uri="{FF2B5EF4-FFF2-40B4-BE49-F238E27FC236}">
                <a16:creationId xmlns:a16="http://schemas.microsoft.com/office/drawing/2014/main" id="{E6152450-6C50-FB8B-3AB6-B5886C330CFB}"/>
              </a:ext>
            </a:extLst>
          </p:cNvPr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Quiz Time!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08709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3"/>
          <p:cNvSpPr txBox="1"/>
          <p:nvPr/>
        </p:nvSpPr>
        <p:spPr>
          <a:xfrm>
            <a:off x="571500" y="2115740"/>
            <a:ext cx="52006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CSS positioning determines placement:</a:t>
            </a:r>
            <a:endParaRPr/>
          </a:p>
        </p:txBody>
      </p:sp>
      <p:pic>
        <p:nvPicPr>
          <p:cNvPr id="421" name="Google Shape;421;p33"/>
          <p:cNvPicPr preferRelativeResize="0"/>
          <p:nvPr/>
        </p:nvPicPr>
        <p:blipFill>
          <a:blip r:embed="rId5"/>
          <a:srcRect/>
          <a:stretch/>
        </p:blipFill>
        <p:spPr>
          <a:xfrm>
            <a:off x="6381750" y="2005199"/>
            <a:ext cx="5200650" cy="3396182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3"/>
          <p:cNvSpPr txBox="1"/>
          <p:nvPr/>
        </p:nvSpPr>
        <p:spPr>
          <a:xfrm>
            <a:off x="904875" y="2776686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static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(Default)</a:t>
            </a:r>
            <a:endParaRPr/>
          </a:p>
        </p:txBody>
      </p:sp>
      <p:sp>
        <p:nvSpPr>
          <p:cNvPr id="423" name="Google Shape;423;p33"/>
          <p:cNvSpPr txBox="1"/>
          <p:nvPr/>
        </p:nvSpPr>
        <p:spPr>
          <a:xfrm>
            <a:off x="904875" y="3332857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relative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(Relative to normal position)</a:t>
            </a:r>
            <a:endParaRPr/>
          </a:p>
        </p:txBody>
      </p:sp>
      <p:sp>
        <p:nvSpPr>
          <p:cNvPr id="424" name="Google Shape;424;p33"/>
          <p:cNvSpPr txBox="1"/>
          <p:nvPr/>
        </p:nvSpPr>
        <p:spPr>
          <a:xfrm>
            <a:off x="904875" y="3889027"/>
            <a:ext cx="48672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absolute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(Relative to nearest positioned ancestor)</a:t>
            </a:r>
            <a:endParaRPr/>
          </a:p>
        </p:txBody>
      </p:sp>
      <p:sp>
        <p:nvSpPr>
          <p:cNvPr id="425" name="Google Shape;425;p33"/>
          <p:cNvSpPr txBox="1"/>
          <p:nvPr/>
        </p:nvSpPr>
        <p:spPr>
          <a:xfrm>
            <a:off x="904875" y="4810869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fixed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(Relative to the viewport)</a:t>
            </a:r>
            <a:endParaRPr/>
          </a:p>
        </p:txBody>
      </p:sp>
      <p:sp>
        <p:nvSpPr>
          <p:cNvPr id="427" name="Google Shape;427;p33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Position Types</a:t>
            </a:r>
            <a:endParaRPr dirty="0"/>
          </a:p>
        </p:txBody>
      </p:sp>
      <p:pic>
        <p:nvPicPr>
          <p:cNvPr id="428" name="Google Shape;428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81478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7095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2712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848969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32" y="983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8637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3349823"/>
            <a:ext cx="52006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4"/>
          <p:cNvSpPr txBox="1"/>
          <p:nvPr/>
        </p:nvSpPr>
        <p:spPr>
          <a:xfrm>
            <a:off x="6343650" y="2589758"/>
            <a:ext cx="52006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Make a div fixed at the top.</a:t>
            </a:r>
            <a:endParaRPr/>
          </a:p>
        </p:txBody>
      </p:sp>
      <p:pic>
        <p:nvPicPr>
          <p:cNvPr id="440" name="Google Shape;440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6263" y="1598265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4"/>
          <p:cNvSpPr txBox="1"/>
          <p:nvPr/>
        </p:nvSpPr>
        <p:spPr>
          <a:xfrm>
            <a:off x="6581775" y="3606997"/>
            <a:ext cx="495299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74C3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div</a:t>
            </a:r>
            <a:endParaRPr dirty="0"/>
          </a:p>
        </p:txBody>
      </p:sp>
      <p:sp>
        <p:nvSpPr>
          <p:cNvPr id="442" name="Google Shape;442;p34"/>
          <p:cNvSpPr txBox="1"/>
          <p:nvPr/>
        </p:nvSpPr>
        <p:spPr>
          <a:xfrm>
            <a:off x="7077075" y="3606998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/>
          </a:p>
        </p:txBody>
      </p:sp>
      <p:sp>
        <p:nvSpPr>
          <p:cNvPr id="443" name="Google Shape;443;p34"/>
          <p:cNvSpPr txBox="1"/>
          <p:nvPr/>
        </p:nvSpPr>
        <p:spPr>
          <a:xfrm>
            <a:off x="6829424" y="3921323"/>
            <a:ext cx="1114425" cy="39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498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position</a:t>
            </a:r>
            <a:endParaRPr dirty="0"/>
          </a:p>
        </p:txBody>
      </p:sp>
      <p:sp>
        <p:nvSpPr>
          <p:cNvPr id="444" name="Google Shape;444;p34"/>
          <p:cNvSpPr txBox="1"/>
          <p:nvPr/>
        </p:nvSpPr>
        <p:spPr>
          <a:xfrm>
            <a:off x="7820025" y="3921323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/>
          </a:p>
        </p:txBody>
      </p:sp>
      <p:sp>
        <p:nvSpPr>
          <p:cNvPr id="445" name="Google Shape;445;p34"/>
          <p:cNvSpPr txBox="1"/>
          <p:nvPr/>
        </p:nvSpPr>
        <p:spPr>
          <a:xfrm>
            <a:off x="8067675" y="3921324"/>
            <a:ext cx="1008114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2ECC7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fixed</a:t>
            </a:r>
            <a:endParaRPr dirty="0"/>
          </a:p>
        </p:txBody>
      </p:sp>
      <p:sp>
        <p:nvSpPr>
          <p:cNvPr id="446" name="Google Shape;446;p34"/>
          <p:cNvSpPr txBox="1"/>
          <p:nvPr/>
        </p:nvSpPr>
        <p:spPr>
          <a:xfrm>
            <a:off x="8686800" y="3921323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/>
          </a:p>
        </p:txBody>
      </p:sp>
      <p:sp>
        <p:nvSpPr>
          <p:cNvPr id="447" name="Google Shape;447;p34"/>
          <p:cNvSpPr txBox="1"/>
          <p:nvPr/>
        </p:nvSpPr>
        <p:spPr>
          <a:xfrm>
            <a:off x="6829425" y="4235647"/>
            <a:ext cx="495299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498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top</a:t>
            </a:r>
            <a:endParaRPr dirty="0"/>
          </a:p>
        </p:txBody>
      </p:sp>
      <p:sp>
        <p:nvSpPr>
          <p:cNvPr id="448" name="Google Shape;448;p34"/>
          <p:cNvSpPr txBox="1"/>
          <p:nvPr/>
        </p:nvSpPr>
        <p:spPr>
          <a:xfrm>
            <a:off x="7200900" y="4235648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dirty="0"/>
          </a:p>
        </p:txBody>
      </p:sp>
      <p:sp>
        <p:nvSpPr>
          <p:cNvPr id="449" name="Google Shape;449;p34"/>
          <p:cNvSpPr txBox="1"/>
          <p:nvPr/>
        </p:nvSpPr>
        <p:spPr>
          <a:xfrm>
            <a:off x="7448550" y="4235648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ECC7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0</a:t>
            </a:r>
            <a:endParaRPr/>
          </a:p>
        </p:txBody>
      </p:sp>
      <p:sp>
        <p:nvSpPr>
          <p:cNvPr id="450" name="Google Shape;450;p34"/>
          <p:cNvSpPr txBox="1"/>
          <p:nvPr/>
        </p:nvSpPr>
        <p:spPr>
          <a:xfrm>
            <a:off x="7572375" y="4235648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/>
          </a:p>
        </p:txBody>
      </p:sp>
      <p:sp>
        <p:nvSpPr>
          <p:cNvPr id="451" name="Google Shape;451;p34"/>
          <p:cNvSpPr txBox="1"/>
          <p:nvPr/>
        </p:nvSpPr>
        <p:spPr>
          <a:xfrm>
            <a:off x="6581775" y="4549973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/>
          </a:p>
        </p:txBody>
      </p:sp>
      <p:sp>
        <p:nvSpPr>
          <p:cNvPr id="453" name="Google Shape;453;p34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Coding Challenge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" grpId="0"/>
      <p:bldP spid="442" grpId="0"/>
      <p:bldP spid="443" grpId="0"/>
      <p:bldP spid="444" grpId="0"/>
      <p:bldP spid="445" grpId="0"/>
      <p:bldP spid="446" grpId="0"/>
      <p:bldP spid="447" grpId="0"/>
      <p:bldP spid="448" grpId="0"/>
      <p:bldP spid="449" grpId="0"/>
      <p:bldP spid="450" grpId="0"/>
      <p:bldP spid="45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35"/>
          <p:cNvSpPr txBox="1"/>
          <p:nvPr/>
        </p:nvSpPr>
        <p:spPr>
          <a:xfrm>
            <a:off x="571500" y="2393751"/>
            <a:ext cx="52006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A layout model that helps align items easily.</a:t>
            </a:r>
            <a:endParaRPr/>
          </a:p>
        </p:txBody>
      </p:sp>
      <p:pic>
        <p:nvPicPr>
          <p:cNvPr id="461" name="Google Shape;461;p35"/>
          <p:cNvPicPr preferRelativeResize="0"/>
          <p:nvPr/>
        </p:nvPicPr>
        <p:blipFill>
          <a:blip r:embed="rId5"/>
          <a:srcRect/>
          <a:stretch/>
        </p:blipFill>
        <p:spPr>
          <a:xfrm>
            <a:off x="6381750" y="2536394"/>
            <a:ext cx="5200650" cy="2333791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5"/>
          <p:cNvSpPr txBox="1"/>
          <p:nvPr/>
        </p:nvSpPr>
        <p:spPr>
          <a:xfrm>
            <a:off x="904875" y="3054697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display: flex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(Enables flexbox)</a:t>
            </a:r>
            <a:endParaRPr/>
          </a:p>
        </p:txBody>
      </p:sp>
      <p:sp>
        <p:nvSpPr>
          <p:cNvPr id="463" name="Google Shape;463;p35"/>
          <p:cNvSpPr txBox="1"/>
          <p:nvPr/>
        </p:nvSpPr>
        <p:spPr>
          <a:xfrm>
            <a:off x="904875" y="3610867"/>
            <a:ext cx="48672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justify-content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(Aligns horizontally/main axis)</a:t>
            </a:r>
            <a:endParaRPr/>
          </a:p>
        </p:txBody>
      </p:sp>
      <p:sp>
        <p:nvSpPr>
          <p:cNvPr id="464" name="Google Shape;464;p35"/>
          <p:cNvSpPr txBox="1"/>
          <p:nvPr/>
        </p:nvSpPr>
        <p:spPr>
          <a:xfrm>
            <a:off x="904875" y="4532709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align-items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(Aligns vertically/cross axis)</a:t>
            </a:r>
            <a:endParaRPr/>
          </a:p>
        </p:txBody>
      </p:sp>
      <p:sp>
        <p:nvSpPr>
          <p:cNvPr id="466" name="Google Shape;466;p35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What Is Flexbox?</a:t>
            </a:r>
            <a:endParaRPr dirty="0"/>
          </a:p>
        </p:txBody>
      </p:sp>
      <p:pic>
        <p:nvPicPr>
          <p:cNvPr id="467" name="Google Shape;467;p3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09279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3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64896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3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70809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20405"/>
            <a:ext cx="520065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6"/>
          <p:cNvSpPr txBox="1"/>
          <p:nvPr/>
        </p:nvSpPr>
        <p:spPr>
          <a:xfrm>
            <a:off x="571500" y="2533650"/>
            <a:ext cx="520065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Which property centers items horizontally?</a:t>
            </a:r>
            <a:endParaRPr/>
          </a:p>
        </p:txBody>
      </p:sp>
      <p:sp>
        <p:nvSpPr>
          <p:cNvPr id="481" name="Google Shape;481;p36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Quiz Time!</a:t>
            </a:r>
            <a:endParaRPr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7F8521D-87FF-76E5-91C0-B81E8E211039}"/>
              </a:ext>
            </a:extLst>
          </p:cNvPr>
          <p:cNvSpPr/>
          <p:nvPr/>
        </p:nvSpPr>
        <p:spPr>
          <a:xfrm>
            <a:off x="571500" y="4481513"/>
            <a:ext cx="5200650" cy="638174"/>
          </a:xfrm>
          <a:prstGeom prst="roundRect">
            <a:avLst/>
          </a:prstGeom>
          <a:solidFill>
            <a:schemeClr val="bg1"/>
          </a:solidFill>
          <a:ln>
            <a:solidFill>
              <a:srgbClr val="BAC0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700" dirty="0">
                <a:solidFill>
                  <a:srgbClr val="65787C"/>
                </a:solidFill>
              </a:rPr>
              <a:t>  B) justify-content</a:t>
            </a:r>
            <a:endParaRPr lang="en-GB" sz="1700" dirty="0">
              <a:solidFill>
                <a:srgbClr val="65787C"/>
              </a:solidFill>
            </a:endParaRPr>
          </a:p>
        </p:txBody>
      </p:sp>
      <p:pic>
        <p:nvPicPr>
          <p:cNvPr id="2" name="Google Shape;461;p35">
            <a:extLst>
              <a:ext uri="{FF2B5EF4-FFF2-40B4-BE49-F238E27FC236}">
                <a16:creationId xmlns:a16="http://schemas.microsoft.com/office/drawing/2014/main" id="{A72DCD77-7059-FEF3-90AC-B3D1FA8F814E}"/>
              </a:ext>
            </a:extLst>
          </p:cNvPr>
          <p:cNvPicPr preferRelativeResize="0"/>
          <p:nvPr/>
        </p:nvPicPr>
        <p:blipFill>
          <a:blip r:embed="rId6"/>
          <a:srcRect/>
          <a:stretch/>
        </p:blipFill>
        <p:spPr>
          <a:xfrm>
            <a:off x="6381750" y="2536394"/>
            <a:ext cx="5200650" cy="2333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>
          <a:extLst>
            <a:ext uri="{FF2B5EF4-FFF2-40B4-BE49-F238E27FC236}">
              <a16:creationId xmlns:a16="http://schemas.microsoft.com/office/drawing/2014/main" id="{5DFC3189-0B61-F212-811F-67A372905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36" descr="image.png">
            <a:extLst>
              <a:ext uri="{FF2B5EF4-FFF2-40B4-BE49-F238E27FC236}">
                <a16:creationId xmlns:a16="http://schemas.microsoft.com/office/drawing/2014/main" id="{7C01681D-7B65-F1CF-91A2-73D6723A15C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36" descr="image.png">
            <a:extLst>
              <a:ext uri="{FF2B5EF4-FFF2-40B4-BE49-F238E27FC236}">
                <a16:creationId xmlns:a16="http://schemas.microsoft.com/office/drawing/2014/main" id="{10142252-D424-E047-5C72-334B54DEAA8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36" descr="image.png">
            <a:extLst>
              <a:ext uri="{FF2B5EF4-FFF2-40B4-BE49-F238E27FC236}">
                <a16:creationId xmlns:a16="http://schemas.microsoft.com/office/drawing/2014/main" id="{35305BCA-CB4A-6630-DB59-BBBC5C81DCA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20405"/>
            <a:ext cx="5200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36" descr="image.png">
            <a:extLst>
              <a:ext uri="{FF2B5EF4-FFF2-40B4-BE49-F238E27FC236}">
                <a16:creationId xmlns:a16="http://schemas.microsoft.com/office/drawing/2014/main" id="{7C5061FF-BB42-8528-B2C6-F54B8FD71BB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01455"/>
            <a:ext cx="520065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6">
            <a:extLst>
              <a:ext uri="{FF2B5EF4-FFF2-40B4-BE49-F238E27FC236}">
                <a16:creationId xmlns:a16="http://schemas.microsoft.com/office/drawing/2014/main" id="{EE0826CD-C3E7-B87F-575F-F24034631E22}"/>
              </a:ext>
            </a:extLst>
          </p:cNvPr>
          <p:cNvSpPr txBox="1"/>
          <p:nvPr/>
        </p:nvSpPr>
        <p:spPr>
          <a:xfrm>
            <a:off x="571500" y="2533650"/>
            <a:ext cx="520065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Which property centers items horizontally?</a:t>
            </a:r>
            <a:endParaRPr/>
          </a:p>
        </p:txBody>
      </p:sp>
      <p:sp>
        <p:nvSpPr>
          <p:cNvPr id="481" name="Google Shape;481;p36">
            <a:extLst>
              <a:ext uri="{FF2B5EF4-FFF2-40B4-BE49-F238E27FC236}">
                <a16:creationId xmlns:a16="http://schemas.microsoft.com/office/drawing/2014/main" id="{BBAA7B2F-1163-7639-49B3-0CC1861BA121}"/>
              </a:ext>
            </a:extLst>
          </p:cNvPr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Quiz Time!</a:t>
            </a:r>
            <a:endParaRPr/>
          </a:p>
        </p:txBody>
      </p:sp>
      <p:pic>
        <p:nvPicPr>
          <p:cNvPr id="2" name="Google Shape;461;p35">
            <a:extLst>
              <a:ext uri="{FF2B5EF4-FFF2-40B4-BE49-F238E27FC236}">
                <a16:creationId xmlns:a16="http://schemas.microsoft.com/office/drawing/2014/main" id="{29972F33-F4D7-F5EB-8B70-FFA479D13588}"/>
              </a:ext>
            </a:extLst>
          </p:cNvPr>
          <p:cNvPicPr preferRelativeResize="0"/>
          <p:nvPr/>
        </p:nvPicPr>
        <p:blipFill>
          <a:blip r:embed="rId7"/>
          <a:srcRect/>
          <a:stretch/>
        </p:blipFill>
        <p:spPr>
          <a:xfrm>
            <a:off x="6381750" y="2536394"/>
            <a:ext cx="5200650" cy="23337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4337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99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3563242"/>
            <a:ext cx="52006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37"/>
          <p:cNvSpPr txBox="1"/>
          <p:nvPr/>
        </p:nvSpPr>
        <p:spPr>
          <a:xfrm>
            <a:off x="6343650" y="2376487"/>
            <a:ext cx="520065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Center all items inside a container horizontally.</a:t>
            </a:r>
            <a:endParaRPr dirty="0"/>
          </a:p>
        </p:txBody>
      </p:sp>
      <p:pic>
        <p:nvPicPr>
          <p:cNvPr id="490" name="Google Shape;490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872" y="1598265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37"/>
          <p:cNvSpPr txBox="1"/>
          <p:nvPr/>
        </p:nvSpPr>
        <p:spPr>
          <a:xfrm>
            <a:off x="6581774" y="3820416"/>
            <a:ext cx="136207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74C3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.container</a:t>
            </a:r>
            <a:endParaRPr dirty="0"/>
          </a:p>
        </p:txBody>
      </p:sp>
      <p:sp>
        <p:nvSpPr>
          <p:cNvPr id="492" name="Google Shape;492;p37"/>
          <p:cNvSpPr txBox="1"/>
          <p:nvPr/>
        </p:nvSpPr>
        <p:spPr>
          <a:xfrm>
            <a:off x="7943850" y="3820417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/>
          </a:p>
        </p:txBody>
      </p:sp>
      <p:sp>
        <p:nvSpPr>
          <p:cNvPr id="493" name="Google Shape;493;p37"/>
          <p:cNvSpPr txBox="1"/>
          <p:nvPr/>
        </p:nvSpPr>
        <p:spPr>
          <a:xfrm>
            <a:off x="6829425" y="4134742"/>
            <a:ext cx="9906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498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display</a:t>
            </a:r>
            <a:endParaRPr dirty="0"/>
          </a:p>
        </p:txBody>
      </p:sp>
      <p:sp>
        <p:nvSpPr>
          <p:cNvPr id="494" name="Google Shape;494;p37"/>
          <p:cNvSpPr txBox="1"/>
          <p:nvPr/>
        </p:nvSpPr>
        <p:spPr>
          <a:xfrm>
            <a:off x="7696200" y="4134742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/>
          </a:p>
        </p:txBody>
      </p:sp>
      <p:sp>
        <p:nvSpPr>
          <p:cNvPr id="495" name="Google Shape;495;p37"/>
          <p:cNvSpPr txBox="1"/>
          <p:nvPr/>
        </p:nvSpPr>
        <p:spPr>
          <a:xfrm>
            <a:off x="7943849" y="4134742"/>
            <a:ext cx="571499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2ECC7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flex</a:t>
            </a:r>
            <a:endParaRPr dirty="0"/>
          </a:p>
        </p:txBody>
      </p:sp>
      <p:sp>
        <p:nvSpPr>
          <p:cNvPr id="496" name="Google Shape;496;p37"/>
          <p:cNvSpPr txBox="1"/>
          <p:nvPr/>
        </p:nvSpPr>
        <p:spPr>
          <a:xfrm>
            <a:off x="8439150" y="4134742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/>
          </a:p>
        </p:txBody>
      </p:sp>
      <p:sp>
        <p:nvSpPr>
          <p:cNvPr id="497" name="Google Shape;497;p37"/>
          <p:cNvSpPr txBox="1"/>
          <p:nvPr/>
        </p:nvSpPr>
        <p:spPr>
          <a:xfrm>
            <a:off x="6829425" y="4449067"/>
            <a:ext cx="19812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498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justify-content</a:t>
            </a:r>
            <a:endParaRPr dirty="0"/>
          </a:p>
        </p:txBody>
      </p:sp>
      <p:sp>
        <p:nvSpPr>
          <p:cNvPr id="498" name="Google Shape;498;p37"/>
          <p:cNvSpPr txBox="1"/>
          <p:nvPr/>
        </p:nvSpPr>
        <p:spPr>
          <a:xfrm>
            <a:off x="8686800" y="4449067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/>
          </a:p>
        </p:txBody>
      </p:sp>
      <p:sp>
        <p:nvSpPr>
          <p:cNvPr id="499" name="Google Shape;499;p37"/>
          <p:cNvSpPr txBox="1"/>
          <p:nvPr/>
        </p:nvSpPr>
        <p:spPr>
          <a:xfrm>
            <a:off x="8934449" y="4449067"/>
            <a:ext cx="86677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2ECC7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center</a:t>
            </a:r>
            <a:endParaRPr dirty="0"/>
          </a:p>
        </p:txBody>
      </p:sp>
      <p:sp>
        <p:nvSpPr>
          <p:cNvPr id="500" name="Google Shape;500;p37"/>
          <p:cNvSpPr txBox="1"/>
          <p:nvPr/>
        </p:nvSpPr>
        <p:spPr>
          <a:xfrm>
            <a:off x="9677400" y="4449067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/>
          </a:p>
        </p:txBody>
      </p:sp>
      <p:sp>
        <p:nvSpPr>
          <p:cNvPr id="501" name="Google Shape;501;p37"/>
          <p:cNvSpPr txBox="1"/>
          <p:nvPr/>
        </p:nvSpPr>
        <p:spPr>
          <a:xfrm>
            <a:off x="6581775" y="4763392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/>
          </a:p>
        </p:txBody>
      </p:sp>
      <p:sp>
        <p:nvSpPr>
          <p:cNvPr id="503" name="Google Shape;503;p37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Flexbox Practice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" grpId="0"/>
      <p:bldP spid="492" grpId="0"/>
      <p:bldP spid="493" grpId="0"/>
      <p:bldP spid="494" grpId="0"/>
      <p:bldP spid="495" grpId="0"/>
      <p:bldP spid="496" grpId="0"/>
      <p:bldP spid="497" grpId="0"/>
      <p:bldP spid="498" grpId="0"/>
      <p:bldP spid="499" grpId="0"/>
      <p:bldP spid="500" grpId="0"/>
      <p:bldP spid="50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16460"/>
            <a:ext cx="5200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78560"/>
            <a:ext cx="520065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8"/>
          <p:cNvSpPr txBox="1"/>
          <p:nvPr/>
        </p:nvSpPr>
        <p:spPr>
          <a:xfrm>
            <a:off x="571500" y="2356395"/>
            <a:ext cx="52006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Flexbox is mainly used for:</a:t>
            </a:r>
            <a:endParaRPr/>
          </a:p>
        </p:txBody>
      </p:sp>
      <p:pic>
        <p:nvPicPr>
          <p:cNvPr id="514" name="Google Shape;514;p3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1598265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38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Quiz Time!</a:t>
            </a:r>
            <a:endParaRPr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79F4DD3-7439-EBDB-A26C-FF0E7D8E941D}"/>
              </a:ext>
            </a:extLst>
          </p:cNvPr>
          <p:cNvSpPr/>
          <p:nvPr/>
        </p:nvSpPr>
        <p:spPr>
          <a:xfrm>
            <a:off x="571500" y="3887093"/>
            <a:ext cx="5200650" cy="638174"/>
          </a:xfrm>
          <a:prstGeom prst="roundRect">
            <a:avLst/>
          </a:prstGeom>
          <a:solidFill>
            <a:schemeClr val="bg1"/>
          </a:solidFill>
          <a:ln>
            <a:solidFill>
              <a:srgbClr val="BAC0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700" dirty="0">
                <a:solidFill>
                  <a:srgbClr val="65787C"/>
                </a:solidFill>
              </a:rPr>
              <a:t>  B) Page layout</a:t>
            </a:r>
            <a:endParaRPr lang="en-GB" sz="1700" dirty="0">
              <a:solidFill>
                <a:srgbClr val="65787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9144C5BF-03BE-3594-1A1A-AA1831E6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38" descr="image.png">
            <a:extLst>
              <a:ext uri="{FF2B5EF4-FFF2-40B4-BE49-F238E27FC236}">
                <a16:creationId xmlns:a16="http://schemas.microsoft.com/office/drawing/2014/main" id="{1CFCFC25-8DC1-F798-0120-192D6908AB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8" descr="image.png">
            <a:extLst>
              <a:ext uri="{FF2B5EF4-FFF2-40B4-BE49-F238E27FC236}">
                <a16:creationId xmlns:a16="http://schemas.microsoft.com/office/drawing/2014/main" id="{476ED5F7-8B24-3E78-D9BA-3EED5C20ED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38" descr="image.png">
            <a:extLst>
              <a:ext uri="{FF2B5EF4-FFF2-40B4-BE49-F238E27FC236}">
                <a16:creationId xmlns:a16="http://schemas.microsoft.com/office/drawing/2014/main" id="{F23A1B6D-ABFC-A21A-BC12-9EAA04C56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16460"/>
            <a:ext cx="5200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38" descr="image.png">
            <a:extLst>
              <a:ext uri="{FF2B5EF4-FFF2-40B4-BE49-F238E27FC236}">
                <a16:creationId xmlns:a16="http://schemas.microsoft.com/office/drawing/2014/main" id="{1948C155-5EF9-5D01-CA0B-027AD7D8262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97510"/>
            <a:ext cx="5200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38" descr="image.png">
            <a:extLst>
              <a:ext uri="{FF2B5EF4-FFF2-40B4-BE49-F238E27FC236}">
                <a16:creationId xmlns:a16="http://schemas.microsoft.com/office/drawing/2014/main" id="{05696114-9A1D-96FF-3364-E758B4441EB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678560"/>
            <a:ext cx="520065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8">
            <a:extLst>
              <a:ext uri="{FF2B5EF4-FFF2-40B4-BE49-F238E27FC236}">
                <a16:creationId xmlns:a16="http://schemas.microsoft.com/office/drawing/2014/main" id="{DDD619FA-9861-DAF5-E064-76FF6A2D487E}"/>
              </a:ext>
            </a:extLst>
          </p:cNvPr>
          <p:cNvSpPr txBox="1"/>
          <p:nvPr/>
        </p:nvSpPr>
        <p:spPr>
          <a:xfrm>
            <a:off x="571500" y="2356395"/>
            <a:ext cx="52006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Flexbox is mainly used for:</a:t>
            </a:r>
            <a:endParaRPr/>
          </a:p>
        </p:txBody>
      </p:sp>
      <p:pic>
        <p:nvPicPr>
          <p:cNvPr id="514" name="Google Shape;514;p38" descr="image.png">
            <a:extLst>
              <a:ext uri="{FF2B5EF4-FFF2-40B4-BE49-F238E27FC236}">
                <a16:creationId xmlns:a16="http://schemas.microsoft.com/office/drawing/2014/main" id="{F9D780E0-CCE0-549F-8B09-EEDD2C2D629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1598265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38">
            <a:extLst>
              <a:ext uri="{FF2B5EF4-FFF2-40B4-BE49-F238E27FC236}">
                <a16:creationId xmlns:a16="http://schemas.microsoft.com/office/drawing/2014/main" id="{DD3C3370-E6E1-C972-4D93-27E151FC0307}"/>
              </a:ext>
            </a:extLst>
          </p:cNvPr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Quiz Time!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4603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 txBox="1"/>
          <p:nvPr/>
        </p:nvSpPr>
        <p:spPr>
          <a:xfrm>
            <a:off x="571500" y="2298501"/>
            <a:ext cx="52006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Commonly used units for sizing:</a:t>
            </a:r>
            <a:endParaRPr/>
          </a:p>
        </p:txBody>
      </p:sp>
      <p:pic>
        <p:nvPicPr>
          <p:cNvPr id="524" name="Google Shape;524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598265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39"/>
          <p:cNvSpPr txBox="1"/>
          <p:nvPr/>
        </p:nvSpPr>
        <p:spPr>
          <a:xfrm>
            <a:off x="904875" y="2959447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px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(pixels, fixed)</a:t>
            </a:r>
            <a:endParaRPr/>
          </a:p>
        </p:txBody>
      </p:sp>
      <p:sp>
        <p:nvSpPr>
          <p:cNvPr id="526" name="Google Shape;526;p39"/>
          <p:cNvSpPr txBox="1"/>
          <p:nvPr/>
        </p:nvSpPr>
        <p:spPr>
          <a:xfrm>
            <a:off x="904875" y="3515617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(percentage, relative)</a:t>
            </a:r>
            <a:endParaRPr/>
          </a:p>
        </p:txBody>
      </p:sp>
      <p:sp>
        <p:nvSpPr>
          <p:cNvPr id="527" name="Google Shape;527;p39"/>
          <p:cNvSpPr txBox="1"/>
          <p:nvPr/>
        </p:nvSpPr>
        <p:spPr>
          <a:xfrm>
            <a:off x="904875" y="4071788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em / rem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(relative to font size)</a:t>
            </a:r>
            <a:endParaRPr/>
          </a:p>
        </p:txBody>
      </p:sp>
      <p:sp>
        <p:nvSpPr>
          <p:cNvPr id="528" name="Google Shape;528;p39"/>
          <p:cNvSpPr txBox="1"/>
          <p:nvPr/>
        </p:nvSpPr>
        <p:spPr>
          <a:xfrm>
            <a:off x="904875" y="4627959"/>
            <a:ext cx="4867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980B9"/>
                </a:solidFill>
                <a:latin typeface="Poppins"/>
                <a:ea typeface="Poppins"/>
                <a:cs typeface="Poppins"/>
                <a:sym typeface="Poppins"/>
              </a:rPr>
              <a:t>vh / vw</a:t>
            </a: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 (viewport height/width)</a:t>
            </a:r>
            <a:endParaRPr/>
          </a:p>
        </p:txBody>
      </p:sp>
      <p:sp>
        <p:nvSpPr>
          <p:cNvPr id="530" name="Google Shape;530;p39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CSS Units</a:t>
            </a:r>
            <a:endParaRPr/>
          </a:p>
        </p:txBody>
      </p:sp>
      <p:pic>
        <p:nvPicPr>
          <p:cNvPr id="531" name="Google Shape;531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99754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5371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0988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66059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3506985"/>
            <a:ext cx="5200650" cy="1419225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40"/>
          <p:cNvSpPr txBox="1"/>
          <p:nvPr/>
        </p:nvSpPr>
        <p:spPr>
          <a:xfrm>
            <a:off x="6343650" y="2746920"/>
            <a:ext cx="52006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Make a box width 50% of the screen.</a:t>
            </a:r>
            <a:endParaRPr/>
          </a:p>
        </p:txBody>
      </p:sp>
      <p:pic>
        <p:nvPicPr>
          <p:cNvPr id="543" name="Google Shape;543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6713" y="1598265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40"/>
          <p:cNvSpPr txBox="1"/>
          <p:nvPr/>
        </p:nvSpPr>
        <p:spPr>
          <a:xfrm>
            <a:off x="6581775" y="3764159"/>
            <a:ext cx="619124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74C3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.box</a:t>
            </a:r>
            <a:endParaRPr/>
          </a:p>
        </p:txBody>
      </p:sp>
      <p:sp>
        <p:nvSpPr>
          <p:cNvPr id="545" name="Google Shape;545;p40"/>
          <p:cNvSpPr txBox="1"/>
          <p:nvPr/>
        </p:nvSpPr>
        <p:spPr>
          <a:xfrm>
            <a:off x="7200900" y="3764160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/>
          </a:p>
        </p:txBody>
      </p:sp>
      <p:sp>
        <p:nvSpPr>
          <p:cNvPr id="546" name="Google Shape;546;p40"/>
          <p:cNvSpPr txBox="1"/>
          <p:nvPr/>
        </p:nvSpPr>
        <p:spPr>
          <a:xfrm>
            <a:off x="6829425" y="4078485"/>
            <a:ext cx="66675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498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width</a:t>
            </a:r>
            <a:endParaRPr/>
          </a:p>
        </p:txBody>
      </p:sp>
      <p:sp>
        <p:nvSpPr>
          <p:cNvPr id="547" name="Google Shape;547;p40"/>
          <p:cNvSpPr txBox="1"/>
          <p:nvPr/>
        </p:nvSpPr>
        <p:spPr>
          <a:xfrm>
            <a:off x="7448550" y="4078485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/>
          </a:p>
        </p:txBody>
      </p:sp>
      <p:sp>
        <p:nvSpPr>
          <p:cNvPr id="548" name="Google Shape;548;p40"/>
          <p:cNvSpPr txBox="1"/>
          <p:nvPr/>
        </p:nvSpPr>
        <p:spPr>
          <a:xfrm>
            <a:off x="7696200" y="4078485"/>
            <a:ext cx="44767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2ECC7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50%</a:t>
            </a:r>
            <a:endParaRPr dirty="0"/>
          </a:p>
        </p:txBody>
      </p:sp>
      <p:sp>
        <p:nvSpPr>
          <p:cNvPr id="549" name="Google Shape;549;p40"/>
          <p:cNvSpPr txBox="1"/>
          <p:nvPr/>
        </p:nvSpPr>
        <p:spPr>
          <a:xfrm>
            <a:off x="8067675" y="4078485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dirty="0"/>
          </a:p>
        </p:txBody>
      </p:sp>
      <p:sp>
        <p:nvSpPr>
          <p:cNvPr id="550" name="Google Shape;550;p40"/>
          <p:cNvSpPr txBox="1"/>
          <p:nvPr/>
        </p:nvSpPr>
        <p:spPr>
          <a:xfrm>
            <a:off x="6581775" y="4392810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CF0F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/>
          </a:p>
        </p:txBody>
      </p:sp>
      <p:sp>
        <p:nvSpPr>
          <p:cNvPr id="552" name="Google Shape;552;p40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Coding Challenge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" grpId="0"/>
      <p:bldP spid="545" grpId="0"/>
      <p:bldP spid="546" grpId="0"/>
      <p:bldP spid="547" grpId="0"/>
      <p:bldP spid="548" grpId="0"/>
      <p:bldP spid="549" grpId="0"/>
      <p:bldP spid="55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Google Shape;557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41"/>
          <p:cNvSpPr txBox="1"/>
          <p:nvPr/>
        </p:nvSpPr>
        <p:spPr>
          <a:xfrm>
            <a:off x="571500" y="2020490"/>
            <a:ext cx="52006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We have covered:</a:t>
            </a:r>
            <a:endParaRPr/>
          </a:p>
        </p:txBody>
      </p:sp>
      <p:pic>
        <p:nvPicPr>
          <p:cNvPr id="560" name="Google Shape;560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598265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41"/>
          <p:cNvSpPr txBox="1"/>
          <p:nvPr/>
        </p:nvSpPr>
        <p:spPr>
          <a:xfrm>
            <a:off x="904875" y="2681436"/>
            <a:ext cx="20764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Syntax</a:t>
            </a:r>
            <a:endParaRPr/>
          </a:p>
        </p:txBody>
      </p:sp>
      <p:sp>
        <p:nvSpPr>
          <p:cNvPr id="562" name="Google Shape;562;p41"/>
          <p:cNvSpPr txBox="1"/>
          <p:nvPr/>
        </p:nvSpPr>
        <p:spPr>
          <a:xfrm>
            <a:off x="904875" y="3237607"/>
            <a:ext cx="20764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Colors &amp; Fonts</a:t>
            </a:r>
            <a:endParaRPr/>
          </a:p>
        </p:txBody>
      </p:sp>
      <p:sp>
        <p:nvSpPr>
          <p:cNvPr id="563" name="Google Shape;563;p41"/>
          <p:cNvSpPr txBox="1"/>
          <p:nvPr/>
        </p:nvSpPr>
        <p:spPr>
          <a:xfrm>
            <a:off x="904875" y="3793777"/>
            <a:ext cx="20764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Margin &amp; Padding</a:t>
            </a:r>
            <a:endParaRPr/>
          </a:p>
        </p:txBody>
      </p:sp>
      <p:sp>
        <p:nvSpPr>
          <p:cNvPr id="564" name="Google Shape;564;p41"/>
          <p:cNvSpPr txBox="1"/>
          <p:nvPr/>
        </p:nvSpPr>
        <p:spPr>
          <a:xfrm>
            <a:off x="904875" y="4349948"/>
            <a:ext cx="20764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Borders</a:t>
            </a:r>
            <a:endParaRPr/>
          </a:p>
        </p:txBody>
      </p:sp>
      <p:sp>
        <p:nvSpPr>
          <p:cNvPr id="565" name="Google Shape;565;p41"/>
          <p:cNvSpPr txBox="1"/>
          <p:nvPr/>
        </p:nvSpPr>
        <p:spPr>
          <a:xfrm>
            <a:off x="904875" y="4906119"/>
            <a:ext cx="20764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Selectors</a:t>
            </a:r>
            <a:endParaRPr/>
          </a:p>
        </p:txBody>
      </p:sp>
      <p:sp>
        <p:nvSpPr>
          <p:cNvPr id="566" name="Google Shape;566;p41"/>
          <p:cNvSpPr txBox="1"/>
          <p:nvPr/>
        </p:nvSpPr>
        <p:spPr>
          <a:xfrm>
            <a:off x="3695700" y="2681436"/>
            <a:ext cx="20764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Display</a:t>
            </a:r>
            <a:endParaRPr/>
          </a:p>
        </p:txBody>
      </p:sp>
      <p:sp>
        <p:nvSpPr>
          <p:cNvPr id="567" name="Google Shape;567;p41"/>
          <p:cNvSpPr txBox="1"/>
          <p:nvPr/>
        </p:nvSpPr>
        <p:spPr>
          <a:xfrm>
            <a:off x="3695700" y="3237607"/>
            <a:ext cx="20764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Backgrounds</a:t>
            </a:r>
            <a:endParaRPr/>
          </a:p>
        </p:txBody>
      </p:sp>
      <p:sp>
        <p:nvSpPr>
          <p:cNvPr id="568" name="Google Shape;568;p41"/>
          <p:cNvSpPr txBox="1"/>
          <p:nvPr/>
        </p:nvSpPr>
        <p:spPr>
          <a:xfrm>
            <a:off x="3695700" y="3793777"/>
            <a:ext cx="20764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Box Model</a:t>
            </a:r>
            <a:endParaRPr/>
          </a:p>
        </p:txBody>
      </p:sp>
      <p:sp>
        <p:nvSpPr>
          <p:cNvPr id="569" name="Google Shape;569;p41"/>
          <p:cNvSpPr txBox="1"/>
          <p:nvPr/>
        </p:nvSpPr>
        <p:spPr>
          <a:xfrm>
            <a:off x="3695700" y="4349948"/>
            <a:ext cx="20764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Flexbox</a:t>
            </a:r>
            <a:endParaRPr/>
          </a:p>
        </p:txBody>
      </p:sp>
      <p:sp>
        <p:nvSpPr>
          <p:cNvPr id="570" name="Google Shape;570;p41"/>
          <p:cNvSpPr txBox="1"/>
          <p:nvPr/>
        </p:nvSpPr>
        <p:spPr>
          <a:xfrm>
            <a:off x="3695700" y="4906119"/>
            <a:ext cx="20764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Units</a:t>
            </a:r>
            <a:endParaRPr/>
          </a:p>
        </p:txBody>
      </p:sp>
      <p:sp>
        <p:nvSpPr>
          <p:cNvPr id="572" name="Google Shape;572;p41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Quick Revision</a:t>
            </a:r>
            <a:endParaRPr/>
          </a:p>
        </p:txBody>
      </p:sp>
      <p:pic>
        <p:nvPicPr>
          <p:cNvPr id="573" name="Google Shape;573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71953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7570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3187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8804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94421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62325" y="271953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62325" y="327570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62325" y="383187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62325" y="438804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62325" y="4944219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16460"/>
            <a:ext cx="5200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4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78560"/>
            <a:ext cx="520065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42"/>
          <p:cNvSpPr txBox="1"/>
          <p:nvPr/>
        </p:nvSpPr>
        <p:spPr>
          <a:xfrm>
            <a:off x="571500" y="2356395"/>
            <a:ext cx="52006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Which CSS selector refers to a class?</a:t>
            </a:r>
            <a:endParaRPr dirty="0"/>
          </a:p>
        </p:txBody>
      </p:sp>
      <p:pic>
        <p:nvPicPr>
          <p:cNvPr id="593" name="Google Shape;593;p4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19850" y="1611510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42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Final Quiz</a:t>
            </a:r>
            <a:endParaRPr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7FC2519-934E-45C0-E4A4-3C901CF3DBBA}"/>
              </a:ext>
            </a:extLst>
          </p:cNvPr>
          <p:cNvSpPr/>
          <p:nvPr/>
        </p:nvSpPr>
        <p:spPr>
          <a:xfrm>
            <a:off x="571500" y="3887093"/>
            <a:ext cx="5200650" cy="638174"/>
          </a:xfrm>
          <a:prstGeom prst="roundRect">
            <a:avLst/>
          </a:prstGeom>
          <a:solidFill>
            <a:schemeClr val="bg1"/>
          </a:solidFill>
          <a:ln>
            <a:solidFill>
              <a:srgbClr val="BAC0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700" dirty="0">
                <a:solidFill>
                  <a:srgbClr val="65787C"/>
                </a:solidFill>
              </a:rPr>
              <a:t>  B) .card</a:t>
            </a:r>
            <a:endParaRPr lang="en-GB" sz="1700" dirty="0">
              <a:solidFill>
                <a:srgbClr val="65787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>
          <a:extLst>
            <a:ext uri="{FF2B5EF4-FFF2-40B4-BE49-F238E27FC236}">
              <a16:creationId xmlns:a16="http://schemas.microsoft.com/office/drawing/2014/main" id="{B64C295C-2114-3653-B1EE-7F4750A76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2" descr="image.png">
            <a:extLst>
              <a:ext uri="{FF2B5EF4-FFF2-40B4-BE49-F238E27FC236}">
                <a16:creationId xmlns:a16="http://schemas.microsoft.com/office/drawing/2014/main" id="{1D108CD5-AB7C-9980-0530-9FD33175D4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42" descr="image.png">
            <a:extLst>
              <a:ext uri="{FF2B5EF4-FFF2-40B4-BE49-F238E27FC236}">
                <a16:creationId xmlns:a16="http://schemas.microsoft.com/office/drawing/2014/main" id="{A719637C-C0BC-A831-AD7E-1F2AA54D64A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560165"/>
            <a:ext cx="52768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42" descr="image.png">
            <a:extLst>
              <a:ext uri="{FF2B5EF4-FFF2-40B4-BE49-F238E27FC236}">
                <a16:creationId xmlns:a16="http://schemas.microsoft.com/office/drawing/2014/main" id="{3F69F381-3B61-E010-9D5A-F7963E565C6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16460"/>
            <a:ext cx="5200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42" descr="image.png">
            <a:extLst>
              <a:ext uri="{FF2B5EF4-FFF2-40B4-BE49-F238E27FC236}">
                <a16:creationId xmlns:a16="http://schemas.microsoft.com/office/drawing/2014/main" id="{D5485CA3-D0AD-E498-8B98-3D3B94B1456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97510"/>
            <a:ext cx="52006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42" descr="image.png">
            <a:extLst>
              <a:ext uri="{FF2B5EF4-FFF2-40B4-BE49-F238E27FC236}">
                <a16:creationId xmlns:a16="http://schemas.microsoft.com/office/drawing/2014/main" id="{2DFF1B1A-84BC-D94A-B240-AB98F819C3F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678560"/>
            <a:ext cx="520065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42">
            <a:extLst>
              <a:ext uri="{FF2B5EF4-FFF2-40B4-BE49-F238E27FC236}">
                <a16:creationId xmlns:a16="http://schemas.microsoft.com/office/drawing/2014/main" id="{34616539-3C12-6933-F7FD-DC80562C256B}"/>
              </a:ext>
            </a:extLst>
          </p:cNvPr>
          <p:cNvSpPr txBox="1"/>
          <p:nvPr/>
        </p:nvSpPr>
        <p:spPr>
          <a:xfrm>
            <a:off x="571500" y="2356395"/>
            <a:ext cx="52006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546E7A"/>
                </a:solidFill>
                <a:latin typeface="Poppins"/>
                <a:ea typeface="Poppins"/>
                <a:cs typeface="Poppins"/>
                <a:sym typeface="Poppins"/>
              </a:rPr>
              <a:t>Which CSS selector refers to a class?</a:t>
            </a:r>
            <a:endParaRPr/>
          </a:p>
        </p:txBody>
      </p:sp>
      <p:pic>
        <p:nvPicPr>
          <p:cNvPr id="593" name="Google Shape;593;p42" descr="image.png">
            <a:extLst>
              <a:ext uri="{FF2B5EF4-FFF2-40B4-BE49-F238E27FC236}">
                <a16:creationId xmlns:a16="http://schemas.microsoft.com/office/drawing/2014/main" id="{CE72A782-C9DE-53AC-22C7-561A65C43D2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1598265"/>
            <a:ext cx="52006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42">
            <a:extLst>
              <a:ext uri="{FF2B5EF4-FFF2-40B4-BE49-F238E27FC236}">
                <a16:creationId xmlns:a16="http://schemas.microsoft.com/office/drawing/2014/main" id="{B6FB1E45-2AAD-7C22-D12B-C08EF4C8ADB9}"/>
              </a:ext>
            </a:extLst>
          </p:cNvPr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2980B9"/>
                </a:solidFill>
                <a:latin typeface="Comfortaa"/>
                <a:ea typeface="Comfortaa"/>
                <a:cs typeface="Comfortaa"/>
                <a:sym typeface="Comfortaa"/>
              </a:rPr>
              <a:t>Final Quiz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4060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587;p42" descr="image.png">
            <a:extLst>
              <a:ext uri="{FF2B5EF4-FFF2-40B4-BE49-F238E27FC236}">
                <a16:creationId xmlns:a16="http://schemas.microsoft.com/office/drawing/2014/main" id="{103726B6-A52D-52FE-33BB-53FFC547D0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976FE3-421D-F7C0-DE2E-AC02FD4C3BE3}"/>
              </a:ext>
            </a:extLst>
          </p:cNvPr>
          <p:cNvSpPr txBox="1"/>
          <p:nvPr/>
        </p:nvSpPr>
        <p:spPr>
          <a:xfrm>
            <a:off x="4001729" y="2974484"/>
            <a:ext cx="6174658" cy="90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2980B9"/>
                </a:solidFill>
                <a:latin typeface="Comfortaa"/>
                <a:sym typeface="Comfortaa"/>
              </a:rPr>
              <a:t>Thank you</a:t>
            </a:r>
            <a:endParaRPr lang="en-US" sz="4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860</Words>
  <Application>Microsoft Office PowerPoint</Application>
  <PresentationFormat>Widescreen</PresentationFormat>
  <Paragraphs>214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Poppins</vt:lpstr>
      <vt:lpstr>Calibri</vt:lpstr>
      <vt:lpstr>Comfortaa</vt:lpstr>
      <vt:lpstr>Arial</vt:lpstr>
      <vt:lpstr>Source Code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Ahmed Mostafa</cp:lastModifiedBy>
  <cp:revision>2</cp:revision>
  <dcterms:modified xsi:type="dcterms:W3CDTF">2025-11-25T21:30:42Z</dcterms:modified>
</cp:coreProperties>
</file>