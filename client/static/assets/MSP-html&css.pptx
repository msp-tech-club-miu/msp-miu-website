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0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1" r:id="rId23"/>
    <p:sldId id="276" r:id="rId24"/>
    <p:sldId id="277" r:id="rId25"/>
    <p:sldId id="278" r:id="rId26"/>
    <p:sldId id="279" r:id="rId27"/>
  </p:sldIdLst>
  <p:sldSz cx="18288000" cy="10287000"/>
  <p:notesSz cx="6858000" cy="9144000"/>
  <p:embeddedFontLst>
    <p:embeddedFont>
      <p:font typeface="Arimo Bold" panose="020B0604020202020204" charset="0"/>
      <p:regular r:id="rId28"/>
    </p:embeddedFont>
    <p:embeddedFont>
      <p:font typeface="Canva Sans" panose="020B0604020202020204" charset="0"/>
      <p:regular r:id="rId29"/>
    </p:embeddedFont>
    <p:embeddedFont>
      <p:font typeface="Canva Sans Bold" panose="020B0604020202020204" charset="0"/>
      <p:regular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Consolas Bold" panose="020B0709020204030204" pitchFamily="49" charset="0"/>
      <p:regular r:id="rId35"/>
      <p:bold r:id="rId36"/>
    </p:embeddedFont>
    <p:embeddedFont>
      <p:font typeface="League Spartan" panose="020B0604020202020204" charset="0"/>
      <p:regular r:id="rId37"/>
    </p:embeddedFont>
    <p:embeddedFont>
      <p:font typeface="TT Supermolot Neue 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6F3"/>
    <a:srgbClr val="5E17EB"/>
    <a:srgbClr val="232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3" d="100"/>
          <a:sy n="53" d="100"/>
        </p:scale>
        <p:origin x="782" y="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21" Type="http://schemas.openxmlformats.org/officeDocument/2006/relationships/image" Target="../media/image27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21" Type="http://schemas.openxmlformats.org/officeDocument/2006/relationships/image" Target="../media/image31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24" Type="http://schemas.openxmlformats.org/officeDocument/2006/relationships/image" Target="../media/image34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23" Type="http://schemas.openxmlformats.org/officeDocument/2006/relationships/image" Target="../media/image33.pn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Relationship Id="rId22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3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4.svg"/><Relationship Id="rId2" Type="http://schemas.openxmlformats.org/officeDocument/2006/relationships/image" Target="../media/image10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5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4.svg"/><Relationship Id="rId2" Type="http://schemas.openxmlformats.org/officeDocument/2006/relationships/image" Target="../media/image10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5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37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4.svg"/><Relationship Id="rId2" Type="http://schemas.openxmlformats.org/officeDocument/2006/relationships/image" Target="../media/image10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5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38.png"/><Relationship Id="rId3" Type="http://schemas.openxmlformats.org/officeDocument/2006/relationships/image" Target="../media/image11.svg"/><Relationship Id="rId21" Type="http://schemas.openxmlformats.org/officeDocument/2006/relationships/image" Target="../media/image4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4.svg"/><Relationship Id="rId2" Type="http://schemas.openxmlformats.org/officeDocument/2006/relationships/image" Target="../media/image10.png"/><Relationship Id="rId16" Type="http://schemas.openxmlformats.org/officeDocument/2006/relationships/image" Target="../media/image3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5.svg"/><Relationship Id="rId10" Type="http://schemas.openxmlformats.org/officeDocument/2006/relationships/image" Target="../media/image18.png"/><Relationship Id="rId19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42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4.svg"/><Relationship Id="rId2" Type="http://schemas.openxmlformats.org/officeDocument/2006/relationships/image" Target="../media/image10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5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88888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72322" y="1901159"/>
            <a:ext cx="3357281" cy="579937"/>
            <a:chOff x="0" y="0"/>
            <a:chExt cx="884222" cy="1527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4222" cy="152741"/>
            </a:xfrm>
            <a:custGeom>
              <a:avLst/>
              <a:gdLst/>
              <a:ahLst/>
              <a:cxnLst/>
              <a:rect l="l" t="t" r="r" b="b"/>
              <a:pathLst>
                <a:path w="884222" h="152741">
                  <a:moveTo>
                    <a:pt x="0" y="0"/>
                  </a:moveTo>
                  <a:lnTo>
                    <a:pt x="884222" y="0"/>
                  </a:lnTo>
                  <a:lnTo>
                    <a:pt x="884222" y="152741"/>
                  </a:lnTo>
                  <a:lnTo>
                    <a:pt x="0" y="152741"/>
                  </a:lnTo>
                  <a:close/>
                </a:path>
              </a:pathLst>
            </a:custGeom>
            <a:solidFill>
              <a:srgbClr val="F165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84222" cy="19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224230" y="2481096"/>
            <a:ext cx="2917767" cy="4114800"/>
          </a:xfrm>
          <a:custGeom>
            <a:avLst/>
            <a:gdLst/>
            <a:ahLst/>
            <a:cxnLst/>
            <a:rect l="l" t="t" r="r" b="b"/>
            <a:pathLst>
              <a:path w="2917767" h="4114800">
                <a:moveTo>
                  <a:pt x="0" y="0"/>
                </a:moveTo>
                <a:lnTo>
                  <a:pt x="2917768" y="0"/>
                </a:lnTo>
                <a:lnTo>
                  <a:pt x="2917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47783" y="3289904"/>
            <a:ext cx="3319666" cy="3412740"/>
          </a:xfrm>
          <a:custGeom>
            <a:avLst/>
            <a:gdLst/>
            <a:ahLst/>
            <a:cxnLst/>
            <a:rect l="l" t="t" r="r" b="b"/>
            <a:pathLst>
              <a:path w="3319666" h="3412740">
                <a:moveTo>
                  <a:pt x="0" y="0"/>
                </a:moveTo>
                <a:lnTo>
                  <a:pt x="3319666" y="0"/>
                </a:lnTo>
                <a:lnTo>
                  <a:pt x="3319666" y="3412740"/>
                </a:lnTo>
                <a:lnTo>
                  <a:pt x="0" y="341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497010" y="7242609"/>
            <a:ext cx="3044391" cy="3044391"/>
          </a:xfrm>
          <a:custGeom>
            <a:avLst/>
            <a:gdLst/>
            <a:ahLst/>
            <a:cxnLst/>
            <a:rect l="l" t="t" r="r" b="b"/>
            <a:pathLst>
              <a:path w="3044391" h="3044391">
                <a:moveTo>
                  <a:pt x="0" y="0"/>
                </a:moveTo>
                <a:lnTo>
                  <a:pt x="3044391" y="0"/>
                </a:lnTo>
                <a:lnTo>
                  <a:pt x="3044391" y="3044391"/>
                </a:lnTo>
                <a:lnTo>
                  <a:pt x="0" y="3044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151064" y="1845019"/>
            <a:ext cx="7736282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spc="465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EMPOWERMENT TECHNOLOGY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96174" y="1713437"/>
            <a:ext cx="1353587" cy="65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8"/>
              </a:lnSpc>
              <a:spcBef>
                <a:spcPct val="0"/>
              </a:spcBef>
            </a:pPr>
            <a:r>
              <a:rPr lang="en-US" sz="3542" b="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&lt;p&gt;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08457" y="1777334"/>
            <a:ext cx="1356031" cy="65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8"/>
              </a:lnSpc>
              <a:spcBef>
                <a:spcPct val="0"/>
              </a:spcBef>
            </a:pPr>
            <a:r>
              <a:rPr lang="en-US" sz="3542" b="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&lt;/p&gt;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13285" y="6380401"/>
            <a:ext cx="4261430" cy="102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7"/>
              </a:lnSpc>
              <a:spcBef>
                <a:spcPct val="0"/>
              </a:spcBef>
            </a:pPr>
            <a:r>
              <a:rPr lang="en-US" sz="5883" b="1" spc="806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MSP Club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45477" y="4118654"/>
            <a:ext cx="8597046" cy="158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79"/>
              </a:lnSpc>
              <a:spcBef>
                <a:spcPct val="0"/>
              </a:spcBef>
            </a:pPr>
            <a:r>
              <a:rPr lang="en-US" sz="9271">
                <a:solidFill>
                  <a:srgbClr val="F164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HTML </a:t>
            </a:r>
            <a:r>
              <a:rPr lang="en-US" sz="927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</a:t>
            </a:r>
            <a:r>
              <a:rPr lang="en-US" sz="9271">
                <a:solidFill>
                  <a:srgbClr val="2196F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EC258A-D4BD-F792-A5B8-DCF8FA32187F}"/>
              </a:ext>
            </a:extLst>
          </p:cNvPr>
          <p:cNvSpPr/>
          <p:nvPr/>
        </p:nvSpPr>
        <p:spPr>
          <a:xfrm>
            <a:off x="646686" y="4995844"/>
            <a:ext cx="6015712" cy="12192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8D9004-2E32-EBDA-D2BB-1E5506513E61}"/>
              </a:ext>
            </a:extLst>
          </p:cNvPr>
          <p:cNvSpPr/>
          <p:nvPr/>
        </p:nvSpPr>
        <p:spPr>
          <a:xfrm>
            <a:off x="670112" y="723900"/>
            <a:ext cx="4525714" cy="12192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14150470" y="6768863"/>
            <a:ext cx="3108830" cy="3108830"/>
          </a:xfrm>
          <a:custGeom>
            <a:avLst/>
            <a:gdLst/>
            <a:ahLst/>
            <a:cxnLst/>
            <a:rect l="l" t="t" r="r" b="b"/>
            <a:pathLst>
              <a:path w="3108830" h="3108830">
                <a:moveTo>
                  <a:pt x="0" y="0"/>
                </a:moveTo>
                <a:lnTo>
                  <a:pt x="3108830" y="0"/>
                </a:lnTo>
                <a:lnTo>
                  <a:pt x="3108830" y="3108829"/>
                </a:lnTo>
                <a:lnTo>
                  <a:pt x="0" y="3108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70112" y="952500"/>
            <a:ext cx="4525714" cy="72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4"/>
              </a:lnSpc>
              <a:spcBef>
                <a:spcPct val="0"/>
              </a:spcBef>
            </a:pPr>
            <a:r>
              <a:rPr lang="en-US" sz="4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HTML?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976" y="2184996"/>
            <a:ext cx="15559539" cy="311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411" lvl="1" indent="-292705" algn="l">
              <a:lnSpc>
                <a:spcPts val="6317"/>
              </a:lnSpc>
              <a:buFont typeface="Arial"/>
              <a:buChar char="•"/>
            </a:pPr>
            <a:r>
              <a:rPr lang="en-US" sz="271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HTML stands for </a:t>
            </a:r>
            <a:r>
              <a:rPr lang="en-US" sz="271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HyperText</a:t>
            </a:r>
            <a:r>
              <a:rPr lang="en-US" sz="271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Markup Language.</a:t>
            </a:r>
          </a:p>
          <a:p>
            <a:pPr marL="585411" lvl="1" indent="-292705" algn="l">
              <a:lnSpc>
                <a:spcPts val="6317"/>
              </a:lnSpc>
              <a:buFont typeface="Arial"/>
              <a:buChar char="•"/>
            </a:pPr>
            <a:r>
              <a:rPr lang="en-US" sz="271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It's the backbone of all web pages. It provides the fundamental structure, not the style. </a:t>
            </a:r>
          </a:p>
          <a:p>
            <a:pPr algn="l">
              <a:lnSpc>
                <a:spcPts val="6317"/>
              </a:lnSpc>
            </a:pPr>
            <a:r>
              <a:rPr lang="en-US" sz="271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Every website you visit is built with HTML.</a:t>
            </a:r>
          </a:p>
          <a:p>
            <a:pPr algn="l">
              <a:lnSpc>
                <a:spcPts val="6317"/>
              </a:lnSpc>
            </a:pPr>
            <a:endParaRPr lang="en-US" sz="2711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6687" y="5181523"/>
            <a:ext cx="6015711" cy="7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1"/>
              </a:lnSpc>
              <a:spcBef>
                <a:spcPct val="0"/>
              </a:spcBef>
            </a:pPr>
            <a:r>
              <a:rPr lang="en-US" sz="432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 vs. Style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5740" y="6300343"/>
            <a:ext cx="12924730" cy="231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088" lvl="1" indent="-292544" algn="l">
              <a:lnSpc>
                <a:spcPts val="6314"/>
              </a:lnSpc>
              <a:buFont typeface="Arial"/>
              <a:buChar char="•"/>
            </a:pPr>
            <a:r>
              <a:rPr lang="en-US" sz="270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Think of it as a building's framework. HTML is the beams, walls, and floors</a:t>
            </a:r>
          </a:p>
          <a:p>
            <a:pPr marL="585088" lvl="1" indent="-292544" algn="l">
              <a:lnSpc>
                <a:spcPts val="6314"/>
              </a:lnSpc>
              <a:buFont typeface="Arial"/>
              <a:buChar char="•"/>
            </a:pPr>
            <a:r>
              <a:rPr lang="en-US" sz="270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CSS, which we'll cover later, is the paint, furniture, and decorations.</a:t>
            </a:r>
          </a:p>
          <a:p>
            <a:pPr algn="l">
              <a:lnSpc>
                <a:spcPts val="6314"/>
              </a:lnSpc>
            </a:pPr>
            <a:endParaRPr lang="en-US" sz="270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B3F8C3-8994-47B0-B131-2E9D07251073}"/>
              </a:ext>
            </a:extLst>
          </p:cNvPr>
          <p:cNvSpPr/>
          <p:nvPr/>
        </p:nvSpPr>
        <p:spPr>
          <a:xfrm>
            <a:off x="786368" y="805016"/>
            <a:ext cx="6015712" cy="12192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289680" y="2329987"/>
            <a:ext cx="9495726" cy="7599790"/>
            <a:chOff x="0" y="0"/>
            <a:chExt cx="2500932" cy="2001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932" cy="2001591"/>
            </a:xfrm>
            <a:custGeom>
              <a:avLst/>
              <a:gdLst/>
              <a:ahLst/>
              <a:cxnLst/>
              <a:rect l="l" t="t" r="r" b="b"/>
              <a:pathLst>
                <a:path w="2500932" h="2001591">
                  <a:moveTo>
                    <a:pt x="0" y="0"/>
                  </a:moveTo>
                  <a:lnTo>
                    <a:pt x="2500932" y="0"/>
                  </a:lnTo>
                  <a:lnTo>
                    <a:pt x="2500932" y="2001591"/>
                  </a:lnTo>
                  <a:lnTo>
                    <a:pt x="0" y="20015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500932" cy="2030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372117" y="2912803"/>
            <a:ext cx="7442669" cy="6233236"/>
          </a:xfrm>
          <a:custGeom>
            <a:avLst/>
            <a:gdLst/>
            <a:ahLst/>
            <a:cxnLst/>
            <a:rect l="l" t="t" r="r" b="b"/>
            <a:pathLst>
              <a:path w="7442669" h="6233236">
                <a:moveTo>
                  <a:pt x="0" y="0"/>
                </a:moveTo>
                <a:lnTo>
                  <a:pt x="7442669" y="0"/>
                </a:lnTo>
                <a:lnTo>
                  <a:pt x="7442669" y="6233236"/>
                </a:lnTo>
                <a:lnTo>
                  <a:pt x="0" y="6233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24962" y="2639937"/>
          <a:ext cx="9025162" cy="7007655"/>
        </p:xfrm>
        <a:graphic>
          <a:graphicData uri="http://schemas.openxmlformats.org/drawingml/2006/table">
            <a:tbl>
              <a:tblPr/>
              <a:tblGrid>
                <a:gridCol w="4512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2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4121"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 dirty="0">
                          <a:solidFill>
                            <a:srgbClr val="8C52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Part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1" dirty="0">
                          <a:solidFill>
                            <a:srgbClr val="8C52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12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&lt;!DOCTYPE html&gt;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Declares HTML5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12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&lt;html&gt;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Wraps the entire document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12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&lt;body&gt;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Visible content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117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&lt;head&gt;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Metadata, imports, SEO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5E1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515370" y="952500"/>
            <a:ext cx="6557709" cy="72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7"/>
              </a:lnSpc>
              <a:spcBef>
                <a:spcPct val="0"/>
              </a:spcBef>
            </a:pPr>
            <a:r>
              <a:rPr lang="en-US" sz="426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 Page Structure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5480" y="1729271"/>
            <a:ext cx="3307318" cy="855484"/>
            <a:chOff x="0" y="0"/>
            <a:chExt cx="871063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1063" cy="225313"/>
            </a:xfrm>
            <a:custGeom>
              <a:avLst/>
              <a:gdLst/>
              <a:ahLst/>
              <a:cxnLst/>
              <a:rect l="l" t="t" r="r" b="b"/>
              <a:pathLst>
                <a:path w="871063" h="225313">
                  <a:moveTo>
                    <a:pt x="0" y="0"/>
                  </a:moveTo>
                  <a:lnTo>
                    <a:pt x="871063" y="0"/>
                  </a:lnTo>
                  <a:lnTo>
                    <a:pt x="87106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71063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95874" y="4296779"/>
            <a:ext cx="957695" cy="534760"/>
            <a:chOff x="0" y="0"/>
            <a:chExt cx="252232" cy="1408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232" cy="140842"/>
            </a:xfrm>
            <a:custGeom>
              <a:avLst/>
              <a:gdLst/>
              <a:ahLst/>
              <a:cxnLst/>
              <a:rect l="l" t="t" r="r" b="b"/>
              <a:pathLst>
                <a:path w="252232" h="140842">
                  <a:moveTo>
                    <a:pt x="0" y="0"/>
                  </a:moveTo>
                  <a:lnTo>
                    <a:pt x="252232" y="0"/>
                  </a:lnTo>
                  <a:lnTo>
                    <a:pt x="25223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2232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36814" y="4296779"/>
            <a:ext cx="975423" cy="534760"/>
            <a:chOff x="0" y="0"/>
            <a:chExt cx="256902" cy="1408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902" cy="140842"/>
            </a:xfrm>
            <a:custGeom>
              <a:avLst/>
              <a:gdLst/>
              <a:ahLst/>
              <a:cxnLst/>
              <a:rect l="l" t="t" r="r" b="b"/>
              <a:pathLst>
                <a:path w="256902" h="140842">
                  <a:moveTo>
                    <a:pt x="0" y="0"/>
                  </a:moveTo>
                  <a:lnTo>
                    <a:pt x="256902" y="0"/>
                  </a:lnTo>
                  <a:lnTo>
                    <a:pt x="25690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6902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44928" y="3184830"/>
            <a:ext cx="1058420" cy="523584"/>
            <a:chOff x="0" y="0"/>
            <a:chExt cx="278761" cy="1378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8761" cy="137899"/>
            </a:xfrm>
            <a:custGeom>
              <a:avLst/>
              <a:gdLst/>
              <a:ahLst/>
              <a:cxnLst/>
              <a:rect l="l" t="t" r="r" b="b"/>
              <a:pathLst>
                <a:path w="278761" h="137899">
                  <a:moveTo>
                    <a:pt x="0" y="0"/>
                  </a:moveTo>
                  <a:lnTo>
                    <a:pt x="278761" y="0"/>
                  </a:lnTo>
                  <a:lnTo>
                    <a:pt x="27876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78761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57641" y="3184830"/>
            <a:ext cx="1058420" cy="523584"/>
            <a:chOff x="0" y="0"/>
            <a:chExt cx="278761" cy="1378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8761" cy="137899"/>
            </a:xfrm>
            <a:custGeom>
              <a:avLst/>
              <a:gdLst/>
              <a:ahLst/>
              <a:cxnLst/>
              <a:rect l="l" t="t" r="r" b="b"/>
              <a:pathLst>
                <a:path w="278761" h="137899">
                  <a:moveTo>
                    <a:pt x="0" y="0"/>
                  </a:moveTo>
                  <a:lnTo>
                    <a:pt x="278761" y="0"/>
                  </a:lnTo>
                  <a:lnTo>
                    <a:pt x="27876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78761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32917" y="3061005"/>
            <a:ext cx="14890343" cy="2311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HTML headings are defined with the &lt;h1&gt; to &lt;h6&gt; tags.</a:t>
            </a:r>
          </a:p>
          <a:p>
            <a:pPr algn="l">
              <a:lnSpc>
                <a:spcPts val="4476"/>
              </a:lnSpc>
            </a:pPr>
            <a:endParaRPr lang="en-US" sz="319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&lt;h1&gt; defines the most important heading. &lt;h6&gt; defines the least important heading: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40528" y="4425085"/>
            <a:ext cx="278148" cy="27814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40528" y="5916927"/>
            <a:ext cx="278148" cy="27814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44" name="Freeform 44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45" name="Group 45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529194" y="1748446"/>
            <a:ext cx="5904505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HEADINGS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23809" y="177516"/>
            <a:ext cx="5307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40412" y="162507"/>
            <a:ext cx="5307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56619" y="177516"/>
            <a:ext cx="119389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36003" y="177516"/>
            <a:ext cx="5307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852301" y="162507"/>
            <a:ext cx="26536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03304" y="177516"/>
            <a:ext cx="397966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086814" y="162507"/>
            <a:ext cx="106129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33584" y="162507"/>
            <a:ext cx="5307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57" name="AutoShape 57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sp>
        <p:nvSpPr>
          <p:cNvPr id="58" name="TextBox 58"/>
          <p:cNvSpPr txBox="1"/>
          <p:nvPr/>
        </p:nvSpPr>
        <p:spPr>
          <a:xfrm>
            <a:off x="2195874" y="5690364"/>
            <a:ext cx="2921730" cy="59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 dirty="0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2195874" y="6557517"/>
            <a:ext cx="837210" cy="412021"/>
            <a:chOff x="0" y="0"/>
            <a:chExt cx="220500" cy="10851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20500" cy="108516"/>
            </a:xfrm>
            <a:custGeom>
              <a:avLst/>
              <a:gdLst/>
              <a:ahLst/>
              <a:cxnLst/>
              <a:rect l="l" t="t" r="r" b="b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22050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195874" y="7074313"/>
            <a:ext cx="837210" cy="412021"/>
            <a:chOff x="0" y="0"/>
            <a:chExt cx="220500" cy="10851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20500" cy="108516"/>
            </a:xfrm>
            <a:custGeom>
              <a:avLst/>
              <a:gdLst/>
              <a:ahLst/>
              <a:cxnLst/>
              <a:rect l="l" t="t" r="r" b="b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2050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195874" y="7591109"/>
            <a:ext cx="837210" cy="412021"/>
            <a:chOff x="0" y="0"/>
            <a:chExt cx="220500" cy="1085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20500" cy="108516"/>
            </a:xfrm>
            <a:custGeom>
              <a:avLst/>
              <a:gdLst/>
              <a:ahLst/>
              <a:cxnLst/>
              <a:rect l="l" t="t" r="r" b="b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22050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195874" y="8107905"/>
            <a:ext cx="837210" cy="412021"/>
            <a:chOff x="0" y="0"/>
            <a:chExt cx="220500" cy="10851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0500" cy="108516"/>
            </a:xfrm>
            <a:custGeom>
              <a:avLst/>
              <a:gdLst/>
              <a:ahLst/>
              <a:cxnLst/>
              <a:rect l="l" t="t" r="r" b="b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22050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195874" y="8624702"/>
            <a:ext cx="837210" cy="412021"/>
            <a:chOff x="0" y="0"/>
            <a:chExt cx="220500" cy="10851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20500" cy="108516"/>
            </a:xfrm>
            <a:custGeom>
              <a:avLst/>
              <a:gdLst/>
              <a:ahLst/>
              <a:cxnLst/>
              <a:rect l="l" t="t" r="r" b="b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22050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195874" y="9141498"/>
            <a:ext cx="837210" cy="412021"/>
            <a:chOff x="0" y="0"/>
            <a:chExt cx="220500" cy="10851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0500" cy="108516"/>
            </a:xfrm>
            <a:custGeom>
              <a:avLst/>
              <a:gdLst/>
              <a:ahLst/>
              <a:cxnLst/>
              <a:rect l="l" t="t" r="r" b="b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22050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525717" y="6557517"/>
            <a:ext cx="1115637" cy="412021"/>
            <a:chOff x="0" y="0"/>
            <a:chExt cx="293830" cy="108516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93830" cy="108516"/>
            </a:xfrm>
            <a:custGeom>
              <a:avLst/>
              <a:gdLst/>
              <a:ahLst/>
              <a:cxnLst/>
              <a:rect l="l" t="t" r="r" b="b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29383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525717" y="7074313"/>
            <a:ext cx="1115637" cy="412021"/>
            <a:chOff x="0" y="0"/>
            <a:chExt cx="293830" cy="10851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93830" cy="108516"/>
            </a:xfrm>
            <a:custGeom>
              <a:avLst/>
              <a:gdLst/>
              <a:ahLst/>
              <a:cxnLst/>
              <a:rect l="l" t="t" r="r" b="b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29383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525717" y="7595228"/>
            <a:ext cx="1115637" cy="412021"/>
            <a:chOff x="0" y="0"/>
            <a:chExt cx="293830" cy="10851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93830" cy="108516"/>
            </a:xfrm>
            <a:custGeom>
              <a:avLst/>
              <a:gdLst/>
              <a:ahLst/>
              <a:cxnLst/>
              <a:rect l="l" t="t" r="r" b="b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9383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525717" y="8112024"/>
            <a:ext cx="1115637" cy="412021"/>
            <a:chOff x="0" y="0"/>
            <a:chExt cx="293830" cy="10851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93830" cy="108516"/>
            </a:xfrm>
            <a:custGeom>
              <a:avLst/>
              <a:gdLst/>
              <a:ahLst/>
              <a:cxnLst/>
              <a:rect l="l" t="t" r="r" b="b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29383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525717" y="8632939"/>
            <a:ext cx="1115637" cy="412021"/>
            <a:chOff x="0" y="0"/>
            <a:chExt cx="293830" cy="10851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93830" cy="108516"/>
            </a:xfrm>
            <a:custGeom>
              <a:avLst/>
              <a:gdLst/>
              <a:ahLst/>
              <a:cxnLst/>
              <a:rect l="l" t="t" r="r" b="b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29383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525717" y="9149735"/>
            <a:ext cx="1115637" cy="412021"/>
            <a:chOff x="0" y="0"/>
            <a:chExt cx="293830" cy="10851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93830" cy="108516"/>
            </a:xfrm>
            <a:custGeom>
              <a:avLst/>
              <a:gdLst/>
              <a:ahLst/>
              <a:cxnLst/>
              <a:rect l="l" t="t" r="r" b="b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293830" cy="14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705376" y="6412113"/>
            <a:ext cx="6444469" cy="312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3"/>
              </a:lnSpc>
            </a:pPr>
            <a:r>
              <a:rPr lang="en-US" sz="2916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&lt;h1&gt;This is heading 1&lt;/h1&gt;</a:t>
            </a:r>
          </a:p>
          <a:p>
            <a:pPr algn="ctr">
              <a:lnSpc>
                <a:spcPts val="4083"/>
              </a:lnSpc>
            </a:pPr>
            <a:r>
              <a:rPr lang="en-US" sz="2916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&lt;h2&gt;This is heading 2&lt;/h2&gt;</a:t>
            </a:r>
          </a:p>
          <a:p>
            <a:pPr algn="ctr">
              <a:lnSpc>
                <a:spcPts val="4083"/>
              </a:lnSpc>
            </a:pPr>
            <a:r>
              <a:rPr lang="en-US" sz="2916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&lt;h3&gt;This is heading 3&lt;/h3&gt;</a:t>
            </a:r>
          </a:p>
          <a:p>
            <a:pPr algn="ctr">
              <a:lnSpc>
                <a:spcPts val="4083"/>
              </a:lnSpc>
            </a:pPr>
            <a:r>
              <a:rPr lang="en-US" sz="2916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&lt;h4&gt;This is heading 4&lt;/h4&gt;</a:t>
            </a:r>
          </a:p>
          <a:p>
            <a:pPr algn="ctr">
              <a:lnSpc>
                <a:spcPts val="4083"/>
              </a:lnSpc>
            </a:pPr>
            <a:r>
              <a:rPr lang="en-US" sz="2916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&lt;h5&gt;This is heading 5&lt;/h5&gt;</a:t>
            </a:r>
          </a:p>
          <a:p>
            <a:pPr algn="ctr">
              <a:lnSpc>
                <a:spcPts val="4083"/>
              </a:lnSpc>
              <a:spcBef>
                <a:spcPct val="0"/>
              </a:spcBef>
            </a:pPr>
            <a:r>
              <a:rPr lang="en-US" sz="2916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&lt;h6&gt;This is heading 6&lt;/h6&gt;</a:t>
            </a:r>
          </a:p>
        </p:txBody>
      </p:sp>
      <p:grpSp>
        <p:nvGrpSpPr>
          <p:cNvPr id="96" name="Group 96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38502" y="826525"/>
            <a:ext cx="1656651" cy="450247"/>
            <a:chOff x="0" y="0"/>
            <a:chExt cx="2208868" cy="600330"/>
          </a:xfrm>
        </p:grpSpPr>
        <p:grpSp>
          <p:nvGrpSpPr>
            <p:cNvPr id="103" name="Group 103"/>
            <p:cNvGrpSpPr/>
            <p:nvPr/>
          </p:nvGrpSpPr>
          <p:grpSpPr>
            <a:xfrm>
              <a:off x="0" y="0"/>
              <a:ext cx="2208868" cy="600330"/>
              <a:chOff x="0" y="0"/>
              <a:chExt cx="436320" cy="118584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436320" cy="118584"/>
              </a:xfrm>
              <a:custGeom>
                <a:avLst/>
                <a:gdLst/>
                <a:ahLst/>
                <a:cxnLst/>
                <a:rect l="l" t="t" r="r" b="b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0" y="-38100"/>
                <a:ext cx="436320" cy="15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sz="1600"/>
              </a:p>
            </p:txBody>
          </p:sp>
        </p:grpSp>
        <p:sp>
          <p:nvSpPr>
            <p:cNvPr id="106" name="TextBox 106"/>
            <p:cNvSpPr txBox="1"/>
            <p:nvPr/>
          </p:nvSpPr>
          <p:spPr>
            <a:xfrm>
              <a:off x="253599" y="18348"/>
              <a:ext cx="1414639" cy="425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Headings</a:t>
              </a:r>
            </a:p>
          </p:txBody>
        </p:sp>
        <p:sp>
          <p:nvSpPr>
            <p:cNvPr id="107" name="Freeform 107"/>
            <p:cNvSpPr/>
            <p:nvPr/>
          </p:nvSpPr>
          <p:spPr>
            <a:xfrm>
              <a:off x="1859221" y="217246"/>
              <a:ext cx="171448" cy="165837"/>
            </a:xfrm>
            <a:custGeom>
              <a:avLst/>
              <a:gdLst/>
              <a:ahLst/>
              <a:cxnLst/>
              <a:rect l="l" t="t" r="r" b="b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8245545" y="5842764"/>
            <a:ext cx="7575008" cy="3982531"/>
            <a:chOff x="0" y="0"/>
            <a:chExt cx="10100010" cy="5310042"/>
          </a:xfrm>
        </p:grpSpPr>
        <p:sp>
          <p:nvSpPr>
            <p:cNvPr id="109" name="TextBox 109"/>
            <p:cNvSpPr txBox="1"/>
            <p:nvPr/>
          </p:nvSpPr>
          <p:spPr>
            <a:xfrm>
              <a:off x="0" y="-114300"/>
              <a:ext cx="10100010" cy="13428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540"/>
                </a:lnSpc>
                <a:spcBef>
                  <a:spcPct val="0"/>
                </a:spcBef>
              </a:pPr>
              <a:r>
                <a:rPr lang="en-US" sz="61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is Heading 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18841" y="1260859"/>
              <a:ext cx="8462329" cy="113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40"/>
                </a:lnSpc>
                <a:spcBef>
                  <a:spcPct val="0"/>
                </a:spcBef>
              </a:pPr>
              <a:r>
                <a:rPr lang="en-US" sz="51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is Heading 2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635612" y="2592752"/>
              <a:ext cx="6828786" cy="9025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  <a:r>
                <a:rPr lang="en-US" sz="4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is Heading 3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2460175" y="3700965"/>
              <a:ext cx="5179661" cy="676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is Heading 4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3298616" y="4478625"/>
              <a:ext cx="3502778" cy="462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is Heading 5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4126953" y="5074250"/>
              <a:ext cx="1846105" cy="235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is Heading 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5955" y="1729271"/>
            <a:ext cx="3892989" cy="855484"/>
            <a:chOff x="0" y="0"/>
            <a:chExt cx="1025314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5314" cy="225313"/>
            </a:xfrm>
            <a:custGeom>
              <a:avLst/>
              <a:gdLst/>
              <a:ahLst/>
              <a:cxnLst/>
              <a:rect l="l" t="t" r="r" b="b"/>
              <a:pathLst>
                <a:path w="1025314" h="225313">
                  <a:moveTo>
                    <a:pt x="0" y="0"/>
                  </a:moveTo>
                  <a:lnTo>
                    <a:pt x="1025314" y="0"/>
                  </a:lnTo>
                  <a:lnTo>
                    <a:pt x="1025314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5314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684203" y="5880069"/>
            <a:ext cx="957695" cy="406657"/>
            <a:chOff x="0" y="0"/>
            <a:chExt cx="252232" cy="1071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232" cy="107103"/>
            </a:xfrm>
            <a:custGeom>
              <a:avLst/>
              <a:gdLst/>
              <a:ahLst/>
              <a:cxnLst/>
              <a:rect l="l" t="t" r="r" b="b"/>
              <a:pathLst>
                <a:path w="252232" h="107103">
                  <a:moveTo>
                    <a:pt x="0" y="0"/>
                  </a:moveTo>
                  <a:lnTo>
                    <a:pt x="252232" y="0"/>
                  </a:lnTo>
                  <a:lnTo>
                    <a:pt x="252232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2232" cy="145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76301" y="3194355"/>
            <a:ext cx="903363" cy="523584"/>
            <a:chOff x="0" y="0"/>
            <a:chExt cx="237923" cy="1378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7923" cy="137899"/>
            </a:xfrm>
            <a:custGeom>
              <a:avLst/>
              <a:gdLst/>
              <a:ahLst/>
              <a:cxnLst/>
              <a:rect l="l" t="t" r="r" b="b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7923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40528" y="4425085"/>
            <a:ext cx="278148" cy="27814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33" name="Freeform 33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34" name="Freeform 34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35" name="Group 35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38" name="AutoShape 38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9" name="Group 39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319400" y="5318382"/>
            <a:ext cx="957695" cy="406657"/>
            <a:chOff x="0" y="0"/>
            <a:chExt cx="252232" cy="10710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52232" cy="107103"/>
            </a:xfrm>
            <a:custGeom>
              <a:avLst/>
              <a:gdLst/>
              <a:ahLst/>
              <a:cxnLst/>
              <a:rect l="l" t="t" r="r" b="b"/>
              <a:pathLst>
                <a:path w="252232" h="107103">
                  <a:moveTo>
                    <a:pt x="0" y="0"/>
                  </a:moveTo>
                  <a:lnTo>
                    <a:pt x="252232" y="0"/>
                  </a:lnTo>
                  <a:lnTo>
                    <a:pt x="252232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52232" cy="145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232917" y="5880069"/>
            <a:ext cx="661273" cy="406657"/>
            <a:chOff x="0" y="0"/>
            <a:chExt cx="174162" cy="10710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74162" cy="107103"/>
            </a:xfrm>
            <a:custGeom>
              <a:avLst/>
              <a:gdLst/>
              <a:ahLst/>
              <a:cxnLst/>
              <a:rect l="l" t="t" r="r" b="b"/>
              <a:pathLst>
                <a:path w="174162" h="107103">
                  <a:moveTo>
                    <a:pt x="0" y="0"/>
                  </a:moveTo>
                  <a:lnTo>
                    <a:pt x="174162" y="0"/>
                  </a:lnTo>
                  <a:lnTo>
                    <a:pt x="174162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74162" cy="145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232917" y="5318382"/>
            <a:ext cx="661273" cy="406657"/>
            <a:chOff x="0" y="0"/>
            <a:chExt cx="174162" cy="10710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74162" cy="107103"/>
            </a:xfrm>
            <a:custGeom>
              <a:avLst/>
              <a:gdLst/>
              <a:ahLst/>
              <a:cxnLst/>
              <a:rect l="l" t="t" r="r" b="b"/>
              <a:pathLst>
                <a:path w="174162" h="107103">
                  <a:moveTo>
                    <a:pt x="0" y="0"/>
                  </a:moveTo>
                  <a:lnTo>
                    <a:pt x="174162" y="0"/>
                  </a:lnTo>
                  <a:lnTo>
                    <a:pt x="174162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74162" cy="145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232917" y="826525"/>
            <a:ext cx="1803202" cy="450247"/>
            <a:chOff x="0" y="0"/>
            <a:chExt cx="474917" cy="11858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74917" cy="118584"/>
            </a:xfrm>
            <a:custGeom>
              <a:avLst/>
              <a:gdLst/>
              <a:ahLst/>
              <a:cxnLst/>
              <a:rect l="l" t="t" r="r" b="b"/>
              <a:pathLst>
                <a:path w="474917" h="118584">
                  <a:moveTo>
                    <a:pt x="0" y="0"/>
                  </a:moveTo>
                  <a:lnTo>
                    <a:pt x="474917" y="0"/>
                  </a:lnTo>
                  <a:lnTo>
                    <a:pt x="4749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4749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60" name="Freeform 60"/>
          <p:cNvSpPr/>
          <p:nvPr/>
        </p:nvSpPr>
        <p:spPr>
          <a:xfrm>
            <a:off x="3759894" y="989460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61" name="Freeform 61"/>
          <p:cNvSpPr/>
          <p:nvPr/>
        </p:nvSpPr>
        <p:spPr>
          <a:xfrm>
            <a:off x="2271017" y="6667727"/>
            <a:ext cx="6110235" cy="3154587"/>
          </a:xfrm>
          <a:custGeom>
            <a:avLst/>
            <a:gdLst/>
            <a:ahLst/>
            <a:cxnLst/>
            <a:rect l="l" t="t" r="r" b="b"/>
            <a:pathLst>
              <a:path w="6110235" h="3154587">
                <a:moveTo>
                  <a:pt x="0" y="0"/>
                </a:moveTo>
                <a:lnTo>
                  <a:pt x="6110236" y="0"/>
                </a:lnTo>
                <a:lnTo>
                  <a:pt x="6110236" y="3154586"/>
                </a:lnTo>
                <a:lnTo>
                  <a:pt x="0" y="315458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8667455" y="6862784"/>
            <a:ext cx="6630412" cy="2764471"/>
          </a:xfrm>
          <a:custGeom>
            <a:avLst/>
            <a:gdLst/>
            <a:ahLst/>
            <a:cxnLst/>
            <a:rect l="l" t="t" r="r" b="b"/>
            <a:pathLst>
              <a:path w="6630412" h="2764471">
                <a:moveTo>
                  <a:pt x="0" y="0"/>
                </a:moveTo>
                <a:lnTo>
                  <a:pt x="6630412" y="0"/>
                </a:lnTo>
                <a:lnTo>
                  <a:pt x="6630412" y="2764472"/>
                </a:lnTo>
                <a:lnTo>
                  <a:pt x="0" y="276447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2232917" y="3061005"/>
            <a:ext cx="10716008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HTML paragraphs are defined with the &lt;p&gt; tag: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08096" y="1748446"/>
            <a:ext cx="6723559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PARAGRAPH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232917" y="4198522"/>
            <a:ext cx="3854053" cy="59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232917" y="5139345"/>
            <a:ext cx="10497715" cy="116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&lt;p&gt;This is a paragraph.&lt;/p&gt;</a:t>
            </a: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&lt;p&gt;This is another paragraph.&lt;/p&gt;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423116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/>
      <p:bldP spid="74" grpId="0"/>
      <p:bldP spid="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33712" y="1729271"/>
            <a:ext cx="6177979" cy="855484"/>
            <a:chOff x="0" y="0"/>
            <a:chExt cx="1627122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7122" cy="225313"/>
            </a:xfrm>
            <a:custGeom>
              <a:avLst/>
              <a:gdLst/>
              <a:ahLst/>
              <a:cxnLst/>
              <a:rect l="l" t="t" r="r" b="b"/>
              <a:pathLst>
                <a:path w="1627122" h="225313">
                  <a:moveTo>
                    <a:pt x="0" y="0"/>
                  </a:moveTo>
                  <a:lnTo>
                    <a:pt x="1627122" y="0"/>
                  </a:lnTo>
                  <a:lnTo>
                    <a:pt x="1627122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27122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94656" y="4872183"/>
            <a:ext cx="903363" cy="523584"/>
            <a:chOff x="0" y="0"/>
            <a:chExt cx="237923" cy="1378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923" cy="137899"/>
            </a:xfrm>
            <a:custGeom>
              <a:avLst/>
              <a:gdLst/>
              <a:ahLst/>
              <a:cxnLst/>
              <a:rect l="l" t="t" r="r" b="b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7923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7625" y="6413913"/>
            <a:ext cx="278148" cy="27814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30" name="Freeform 30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31" name="Freeform 31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32" name="Group 32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35" name="AutoShape 35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6" name="Group 36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242442" y="7923036"/>
            <a:ext cx="792578" cy="406657"/>
            <a:chOff x="0" y="0"/>
            <a:chExt cx="208745" cy="10710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08745" cy="107103"/>
            </a:xfrm>
            <a:custGeom>
              <a:avLst/>
              <a:gdLst/>
              <a:ahLst/>
              <a:cxnLst/>
              <a:rect l="l" t="t" r="r" b="b"/>
              <a:pathLst>
                <a:path w="208745" h="107103">
                  <a:moveTo>
                    <a:pt x="0" y="0"/>
                  </a:moveTo>
                  <a:lnTo>
                    <a:pt x="208745" y="0"/>
                  </a:lnTo>
                  <a:lnTo>
                    <a:pt x="208745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08745" cy="145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094656" y="3175305"/>
            <a:ext cx="903363" cy="523584"/>
            <a:chOff x="0" y="0"/>
            <a:chExt cx="237923" cy="13789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37923" cy="137899"/>
            </a:xfrm>
            <a:custGeom>
              <a:avLst/>
              <a:gdLst/>
              <a:ahLst/>
              <a:cxnLst/>
              <a:rect l="l" t="t" r="r" b="b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37923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2232917" y="3061005"/>
            <a:ext cx="15745834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&lt;</a:t>
            </a:r>
            <a:r>
              <a:rPr lang="en-US" sz="319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hr</a:t>
            </a: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 tag defines a thematic break in an HTML page, and is most often displayed as a horizontal rule.</a:t>
            </a:r>
          </a:p>
          <a:p>
            <a:pPr algn="l">
              <a:lnSpc>
                <a:spcPts val="4476"/>
              </a:lnSpc>
            </a:pPr>
            <a:endParaRPr lang="en-US" sz="319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&lt;</a:t>
            </a:r>
            <a:r>
              <a:rPr lang="en-US" sz="319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hr</a:t>
            </a: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 element is used to separate content (or define a change) in an HTML page: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3750369" y="840108"/>
            <a:ext cx="1656651" cy="450247"/>
            <a:chOff x="0" y="0"/>
            <a:chExt cx="2208868" cy="600330"/>
          </a:xfrm>
        </p:grpSpPr>
        <p:grpSp>
          <p:nvGrpSpPr>
            <p:cNvPr id="56" name="Group 56"/>
            <p:cNvGrpSpPr/>
            <p:nvPr/>
          </p:nvGrpSpPr>
          <p:grpSpPr>
            <a:xfrm>
              <a:off x="0" y="0"/>
              <a:ext cx="2208868" cy="600330"/>
              <a:chOff x="0" y="0"/>
              <a:chExt cx="436320" cy="118584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36320" cy="118584"/>
              </a:xfrm>
              <a:custGeom>
                <a:avLst/>
                <a:gdLst/>
                <a:ahLst/>
                <a:cxnLst/>
                <a:rect l="l" t="t" r="r" b="b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436320" cy="15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sz="1600"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253599" y="18348"/>
              <a:ext cx="1414639" cy="425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H_Rules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1859221" y="217246"/>
              <a:ext cx="171448" cy="165837"/>
            </a:xfrm>
            <a:custGeom>
              <a:avLst/>
              <a:gdLst/>
              <a:ahLst/>
              <a:cxnLst/>
              <a:rect l="l" t="t" r="r" b="b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740528" y="9119226"/>
            <a:ext cx="278148" cy="278148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4" name="Freeform 64"/>
          <p:cNvSpPr/>
          <p:nvPr/>
        </p:nvSpPr>
        <p:spPr>
          <a:xfrm>
            <a:off x="7571410" y="6413913"/>
            <a:ext cx="10407341" cy="1339945"/>
          </a:xfrm>
          <a:custGeom>
            <a:avLst/>
            <a:gdLst/>
            <a:ahLst/>
            <a:cxnLst/>
            <a:rect l="l" t="t" r="r" b="b"/>
            <a:pathLst>
              <a:path w="10407341" h="1339945">
                <a:moveTo>
                  <a:pt x="0" y="0"/>
                </a:moveTo>
                <a:lnTo>
                  <a:pt x="10407342" y="0"/>
                </a:lnTo>
                <a:lnTo>
                  <a:pt x="10407342" y="1339945"/>
                </a:lnTo>
                <a:lnTo>
                  <a:pt x="0" y="133994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1298949" y="1753690"/>
            <a:ext cx="9258434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HORIZONTAL RULES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232917" y="6160813"/>
            <a:ext cx="3568303" cy="59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 dirty="0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271017" y="6822107"/>
            <a:ext cx="7069420" cy="198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4"/>
              </a:lnSpc>
            </a:pPr>
            <a:r>
              <a:rPr lang="en-US" sz="278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&lt;h1&gt;This is heading 1&lt;/h1&gt;</a:t>
            </a:r>
          </a:p>
          <a:p>
            <a:pPr algn="l">
              <a:lnSpc>
                <a:spcPts val="3894"/>
              </a:lnSpc>
            </a:pPr>
            <a:r>
              <a:rPr lang="en-US" sz="278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&lt;p&gt;This is some text.&lt;/p&gt;</a:t>
            </a:r>
          </a:p>
          <a:p>
            <a:pPr algn="l">
              <a:lnSpc>
                <a:spcPts val="3894"/>
              </a:lnSpc>
            </a:pPr>
            <a:r>
              <a:rPr lang="en-US" sz="278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&lt;hr&gt;</a:t>
            </a:r>
          </a:p>
          <a:p>
            <a:pPr algn="l">
              <a:lnSpc>
                <a:spcPts val="3894"/>
              </a:lnSpc>
              <a:spcBef>
                <a:spcPct val="0"/>
              </a:spcBef>
            </a:pPr>
            <a:endParaRPr lang="en-US" sz="278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188367" y="8678957"/>
            <a:ext cx="13230869" cy="116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&lt;hr&gt; tag is an empty tag, which means that it has no end tag.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4" grpId="0" animBg="1"/>
      <p:bldP spid="75" grpId="0"/>
      <p:bldP spid="76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5137" y="1729271"/>
            <a:ext cx="4159052" cy="855484"/>
            <a:chOff x="0" y="0"/>
            <a:chExt cx="1095388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5388" cy="225313"/>
            </a:xfrm>
            <a:custGeom>
              <a:avLst/>
              <a:gdLst/>
              <a:ahLst/>
              <a:cxnLst/>
              <a:rect l="l" t="t" r="r" b="b"/>
              <a:pathLst>
                <a:path w="1095388" h="225313">
                  <a:moveTo>
                    <a:pt x="0" y="0"/>
                  </a:moveTo>
                  <a:lnTo>
                    <a:pt x="1095388" y="0"/>
                  </a:lnTo>
                  <a:lnTo>
                    <a:pt x="1095388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5388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99252" y="1748446"/>
            <a:ext cx="7483131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LINE BREAKS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38" name="AutoShape 38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9" name="Group 39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4214240" y="3166969"/>
            <a:ext cx="903363" cy="523584"/>
            <a:chOff x="0" y="0"/>
            <a:chExt cx="237923" cy="13789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37923" cy="137899"/>
            </a:xfrm>
            <a:custGeom>
              <a:avLst/>
              <a:gdLst/>
              <a:ahLst/>
              <a:cxnLst/>
              <a:rect l="l" t="t" r="r" b="b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237923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159352" y="4296779"/>
            <a:ext cx="876767" cy="534760"/>
            <a:chOff x="0" y="0"/>
            <a:chExt cx="230918" cy="1408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30918" cy="140842"/>
            </a:xfrm>
            <a:custGeom>
              <a:avLst/>
              <a:gdLst/>
              <a:ahLst/>
              <a:cxnLst/>
              <a:rect l="l" t="t" r="r" b="b"/>
              <a:pathLst>
                <a:path w="230918" h="140842">
                  <a:moveTo>
                    <a:pt x="0" y="0"/>
                  </a:moveTo>
                  <a:lnTo>
                    <a:pt x="230918" y="0"/>
                  </a:lnTo>
                  <a:lnTo>
                    <a:pt x="230918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30918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2232917" y="3061005"/>
            <a:ext cx="15872661" cy="2290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HTML &lt;</a:t>
            </a:r>
            <a:r>
              <a:rPr lang="en-US" sz="319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 element defines a line break.</a:t>
            </a:r>
          </a:p>
          <a:p>
            <a:pPr algn="l">
              <a:lnSpc>
                <a:spcPts val="4476"/>
              </a:lnSpc>
            </a:pPr>
            <a:endParaRPr lang="en-US" sz="319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Use &lt;</a:t>
            </a:r>
            <a:r>
              <a:rPr lang="en-US" sz="319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 if you want a line break (a new line) without starting</a:t>
            </a: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a new paragraph: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740528" y="4425085"/>
            <a:ext cx="278148" cy="278148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727625" y="5901887"/>
            <a:ext cx="278148" cy="278148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2232917" y="5656054"/>
            <a:ext cx="4013194" cy="59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 dirty="0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7841972" y="6711177"/>
            <a:ext cx="840411" cy="498741"/>
            <a:chOff x="0" y="0"/>
            <a:chExt cx="221343" cy="1313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21343" cy="131356"/>
            </a:xfrm>
            <a:custGeom>
              <a:avLst/>
              <a:gdLst/>
              <a:ahLst/>
              <a:cxnLst/>
              <a:rect l="l" t="t" r="r" b="b"/>
              <a:pathLst>
                <a:path w="221343" h="131356">
                  <a:moveTo>
                    <a:pt x="0" y="0"/>
                  </a:moveTo>
                  <a:lnTo>
                    <a:pt x="221343" y="0"/>
                  </a:lnTo>
                  <a:lnTo>
                    <a:pt x="221343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221343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501562" y="6711177"/>
            <a:ext cx="840411" cy="498741"/>
            <a:chOff x="0" y="0"/>
            <a:chExt cx="221343" cy="13135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1343" cy="131356"/>
            </a:xfrm>
            <a:custGeom>
              <a:avLst/>
              <a:gdLst/>
              <a:ahLst/>
              <a:cxnLst/>
              <a:rect l="l" t="t" r="r" b="b"/>
              <a:pathLst>
                <a:path w="221343" h="131356">
                  <a:moveTo>
                    <a:pt x="0" y="0"/>
                  </a:moveTo>
                  <a:lnTo>
                    <a:pt x="221343" y="0"/>
                  </a:lnTo>
                  <a:lnTo>
                    <a:pt x="221343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221343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2232917" y="6587352"/>
            <a:ext cx="12461111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&lt;p&gt;This is&lt;br&gt;a paragraph&lt;br&gt;with line breaks.&lt;/p&gt;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5108078" y="840873"/>
            <a:ext cx="2039871" cy="450247"/>
            <a:chOff x="0" y="0"/>
            <a:chExt cx="2719829" cy="600330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0"/>
              <a:ext cx="2719829" cy="600330"/>
              <a:chOff x="0" y="0"/>
              <a:chExt cx="537250" cy="118584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537250" cy="118584"/>
              </a:xfrm>
              <a:custGeom>
                <a:avLst/>
                <a:gdLst/>
                <a:ahLst/>
                <a:cxnLst/>
                <a:rect l="l" t="t" r="r" b="b"/>
                <a:pathLst>
                  <a:path w="537250" h="118584">
                    <a:moveTo>
                      <a:pt x="0" y="0"/>
                    </a:moveTo>
                    <a:lnTo>
                      <a:pt x="537250" y="0"/>
                    </a:lnTo>
                    <a:lnTo>
                      <a:pt x="53725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38100"/>
                <a:ext cx="537250" cy="15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sz="1600"/>
              </a:p>
            </p:txBody>
          </p:sp>
        </p:grpSp>
        <p:sp>
          <p:nvSpPr>
            <p:cNvPr id="82" name="TextBox 82"/>
            <p:cNvSpPr txBox="1"/>
            <p:nvPr/>
          </p:nvSpPr>
          <p:spPr>
            <a:xfrm>
              <a:off x="253597" y="18348"/>
              <a:ext cx="1841619" cy="425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L_Breaks</a:t>
              </a:r>
            </a:p>
          </p:txBody>
        </p:sp>
        <p:sp>
          <p:nvSpPr>
            <p:cNvPr id="83" name="Freeform 83"/>
            <p:cNvSpPr/>
            <p:nvPr/>
          </p:nvSpPr>
          <p:spPr>
            <a:xfrm>
              <a:off x="1859221" y="217246"/>
              <a:ext cx="171448" cy="165837"/>
            </a:xfrm>
            <a:custGeom>
              <a:avLst/>
              <a:gdLst/>
              <a:ahLst/>
              <a:cxnLst/>
              <a:rect l="l" t="t" r="r" b="b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428774" y="8067168"/>
            <a:ext cx="13265255" cy="48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9"/>
              </a:lnSpc>
            </a:pPr>
            <a:r>
              <a:rPr lang="en-US" sz="286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&lt;br&gt; tag is an empty tag, which means that it has no end tag.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1778372" y="8278256"/>
            <a:ext cx="278148" cy="278148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70" grpId="0"/>
      <p:bldP spid="77" grpId="0"/>
      <p:bldP spid="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5137" y="1729271"/>
            <a:ext cx="1996083" cy="855484"/>
            <a:chOff x="0" y="0"/>
            <a:chExt cx="525717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5717" cy="225313"/>
            </a:xfrm>
            <a:custGeom>
              <a:avLst/>
              <a:gdLst/>
              <a:ahLst/>
              <a:cxnLst/>
              <a:rect l="l" t="t" r="r" b="b"/>
              <a:pathLst>
                <a:path w="525717" h="225313">
                  <a:moveTo>
                    <a:pt x="0" y="0"/>
                  </a:moveTo>
                  <a:lnTo>
                    <a:pt x="525717" y="0"/>
                  </a:lnTo>
                  <a:lnTo>
                    <a:pt x="525717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5717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256847" y="3184830"/>
            <a:ext cx="903363" cy="523584"/>
            <a:chOff x="0" y="0"/>
            <a:chExt cx="237923" cy="13789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37923" cy="137899"/>
            </a:xfrm>
            <a:custGeom>
              <a:avLst/>
              <a:gdLst/>
              <a:ahLst/>
              <a:cxnLst/>
              <a:rect l="l" t="t" r="r" b="b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37923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740528" y="4425085"/>
            <a:ext cx="278148" cy="278148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232917" y="5225475"/>
            <a:ext cx="9348482" cy="534760"/>
            <a:chOff x="0" y="0"/>
            <a:chExt cx="2462152" cy="14084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462152" cy="140842"/>
            </a:xfrm>
            <a:custGeom>
              <a:avLst/>
              <a:gdLst/>
              <a:ahLst/>
              <a:cxnLst/>
              <a:rect l="l" t="t" r="r" b="b"/>
              <a:pathLst>
                <a:path w="2462152" h="140842">
                  <a:moveTo>
                    <a:pt x="0" y="0"/>
                  </a:moveTo>
                  <a:lnTo>
                    <a:pt x="2462152" y="0"/>
                  </a:lnTo>
                  <a:lnTo>
                    <a:pt x="246215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462152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754955" y="5198444"/>
            <a:ext cx="829114" cy="534760"/>
            <a:chOff x="0" y="0"/>
            <a:chExt cx="218367" cy="14084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18367" cy="140842"/>
            </a:xfrm>
            <a:custGeom>
              <a:avLst/>
              <a:gdLst/>
              <a:ahLst/>
              <a:cxnLst/>
              <a:rect l="l" t="t" r="r" b="b"/>
              <a:pathLst>
                <a:path w="218367" h="140842">
                  <a:moveTo>
                    <a:pt x="0" y="0"/>
                  </a:moveTo>
                  <a:lnTo>
                    <a:pt x="218367" y="0"/>
                  </a:lnTo>
                  <a:lnTo>
                    <a:pt x="21836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18367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740528" y="6281555"/>
            <a:ext cx="278148" cy="278148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727625" y="7388379"/>
            <a:ext cx="278148" cy="278148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93981" y="840108"/>
            <a:ext cx="1301173" cy="450247"/>
            <a:chOff x="0" y="0"/>
            <a:chExt cx="342696" cy="11858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42696" cy="118584"/>
            </a:xfrm>
            <a:custGeom>
              <a:avLst/>
              <a:gdLst/>
              <a:ahLst/>
              <a:cxnLst/>
              <a:rect l="l" t="t" r="r" b="b"/>
              <a:pathLst>
                <a:path w="342696" h="118584">
                  <a:moveTo>
                    <a:pt x="0" y="0"/>
                  </a:moveTo>
                  <a:lnTo>
                    <a:pt x="342696" y="0"/>
                  </a:lnTo>
                  <a:lnTo>
                    <a:pt x="342696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342696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69" name="Freeform 69"/>
          <p:cNvSpPr/>
          <p:nvPr/>
        </p:nvSpPr>
        <p:spPr>
          <a:xfrm>
            <a:off x="7494158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70" name="Freeform 70"/>
          <p:cNvSpPr/>
          <p:nvPr/>
        </p:nvSpPr>
        <p:spPr>
          <a:xfrm>
            <a:off x="12645254" y="3567835"/>
            <a:ext cx="3265510" cy="1381562"/>
          </a:xfrm>
          <a:custGeom>
            <a:avLst/>
            <a:gdLst/>
            <a:ahLst/>
            <a:cxnLst/>
            <a:rect l="l" t="t" r="r" b="b"/>
            <a:pathLst>
              <a:path w="3265510" h="1381562">
                <a:moveTo>
                  <a:pt x="0" y="0"/>
                </a:moveTo>
                <a:lnTo>
                  <a:pt x="3265511" y="0"/>
                </a:lnTo>
                <a:lnTo>
                  <a:pt x="3265511" y="1381562"/>
                </a:lnTo>
                <a:lnTo>
                  <a:pt x="0" y="13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912774" y="1748446"/>
            <a:ext cx="5893119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LINKS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232917" y="3061005"/>
            <a:ext cx="10128269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HTML links are defined with the &lt;a&gt; tag: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232917" y="4189402"/>
            <a:ext cx="4261063" cy="59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232917" y="5101650"/>
            <a:ext cx="14659197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&lt;a </a:t>
            </a:r>
            <a:r>
              <a:rPr lang="en-US" sz="319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="https://www.reallygreatsite.com"&gt;This is a link&lt;/a&gt;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232917" y="6056456"/>
            <a:ext cx="15485681" cy="2290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link's destination is specified in the href attribute.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Attributes are used to provide additional information about HTML elements.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646381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82" grpId="0"/>
      <p:bldP spid="84" grpId="0"/>
      <p:bldP spid="85" grpId="0"/>
      <p:bldP spid="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1337" y="1729271"/>
            <a:ext cx="2462298" cy="855484"/>
            <a:chOff x="0" y="0"/>
            <a:chExt cx="648506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8506" cy="225313"/>
            </a:xfrm>
            <a:custGeom>
              <a:avLst/>
              <a:gdLst/>
              <a:ahLst/>
              <a:cxnLst/>
              <a:rect l="l" t="t" r="r" b="b"/>
              <a:pathLst>
                <a:path w="648506" h="225313">
                  <a:moveTo>
                    <a:pt x="0" y="0"/>
                  </a:moveTo>
                  <a:lnTo>
                    <a:pt x="648506" y="0"/>
                  </a:lnTo>
                  <a:lnTo>
                    <a:pt x="648506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48506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3131" y="1748446"/>
            <a:ext cx="6034819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IMAGES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38" name="AutoShape 38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9" name="Group 39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9563251" y="3184830"/>
            <a:ext cx="1172831" cy="523584"/>
            <a:chOff x="0" y="0"/>
            <a:chExt cx="308894" cy="13789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08894" cy="137899"/>
            </a:xfrm>
            <a:custGeom>
              <a:avLst/>
              <a:gdLst/>
              <a:ahLst/>
              <a:cxnLst/>
              <a:rect l="l" t="t" r="r" b="b"/>
              <a:pathLst>
                <a:path w="308894" h="137899">
                  <a:moveTo>
                    <a:pt x="0" y="0"/>
                  </a:moveTo>
                  <a:lnTo>
                    <a:pt x="308894" y="0"/>
                  </a:lnTo>
                  <a:lnTo>
                    <a:pt x="30889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308894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800630" y="4315108"/>
            <a:ext cx="1111414" cy="534760"/>
            <a:chOff x="0" y="0"/>
            <a:chExt cx="292718" cy="1408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92718" cy="140842"/>
            </a:xfrm>
            <a:custGeom>
              <a:avLst/>
              <a:gdLst/>
              <a:ahLst/>
              <a:cxnLst/>
              <a:rect l="l" t="t" r="r" b="b"/>
              <a:pathLst>
                <a:path w="292718" h="140842">
                  <a:moveTo>
                    <a:pt x="0" y="0"/>
                  </a:moveTo>
                  <a:lnTo>
                    <a:pt x="292718" y="0"/>
                  </a:lnTo>
                  <a:lnTo>
                    <a:pt x="292718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92718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175576" y="4315108"/>
            <a:ext cx="1111414" cy="534760"/>
            <a:chOff x="0" y="0"/>
            <a:chExt cx="292718" cy="14084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92718" cy="140842"/>
            </a:xfrm>
            <a:custGeom>
              <a:avLst/>
              <a:gdLst/>
              <a:ahLst/>
              <a:cxnLst/>
              <a:rect l="l" t="t" r="r" b="b"/>
              <a:pathLst>
                <a:path w="292718" h="140842">
                  <a:moveTo>
                    <a:pt x="0" y="0"/>
                  </a:moveTo>
                  <a:lnTo>
                    <a:pt x="292718" y="0"/>
                  </a:lnTo>
                  <a:lnTo>
                    <a:pt x="292718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292718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598325" y="4315108"/>
            <a:ext cx="1303891" cy="534760"/>
            <a:chOff x="0" y="0"/>
            <a:chExt cx="343412" cy="14084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43412" cy="140842"/>
            </a:xfrm>
            <a:custGeom>
              <a:avLst/>
              <a:gdLst/>
              <a:ahLst/>
              <a:cxnLst/>
              <a:rect l="l" t="t" r="r" b="b"/>
              <a:pathLst>
                <a:path w="343412" h="140842">
                  <a:moveTo>
                    <a:pt x="0" y="0"/>
                  </a:moveTo>
                  <a:lnTo>
                    <a:pt x="343412" y="0"/>
                  </a:lnTo>
                  <a:lnTo>
                    <a:pt x="34341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343412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172763" y="4315108"/>
            <a:ext cx="1355218" cy="534760"/>
            <a:chOff x="0" y="0"/>
            <a:chExt cx="356930" cy="14084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56930" cy="140842"/>
            </a:xfrm>
            <a:custGeom>
              <a:avLst/>
              <a:gdLst/>
              <a:ahLst/>
              <a:cxnLst/>
              <a:rect l="l" t="t" r="r" b="b"/>
              <a:pathLst>
                <a:path w="356930" h="140842">
                  <a:moveTo>
                    <a:pt x="0" y="0"/>
                  </a:moveTo>
                  <a:lnTo>
                    <a:pt x="356930" y="0"/>
                  </a:lnTo>
                  <a:lnTo>
                    <a:pt x="356930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356930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2232917" y="3061005"/>
            <a:ext cx="15626324" cy="2290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HTML images are defined with the &lt;</a:t>
            </a:r>
            <a:r>
              <a:rPr lang="en-US" sz="319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 tag.</a:t>
            </a:r>
          </a:p>
          <a:p>
            <a:pPr algn="l">
              <a:lnSpc>
                <a:spcPts val="4476"/>
              </a:lnSpc>
            </a:pPr>
            <a:endParaRPr lang="en-US" sz="319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source file (src), alternative text (alt), width, and height are provided as attributes: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740528" y="4425085"/>
            <a:ext cx="278148" cy="278148"/>
            <a:chOff x="0" y="0"/>
            <a:chExt cx="812800" cy="812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1740528" y="5867301"/>
            <a:ext cx="278148" cy="278148"/>
            <a:chOff x="0" y="0"/>
            <a:chExt cx="812800" cy="8128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232917" y="5640739"/>
            <a:ext cx="2921730" cy="59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grpSp>
        <p:nvGrpSpPr>
          <p:cNvPr id="88" name="Group 88"/>
          <p:cNvGrpSpPr/>
          <p:nvPr/>
        </p:nvGrpSpPr>
        <p:grpSpPr>
          <a:xfrm>
            <a:off x="2232917" y="6695862"/>
            <a:ext cx="1010862" cy="498741"/>
            <a:chOff x="0" y="0"/>
            <a:chExt cx="266235" cy="13135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66235" cy="131356"/>
            </a:xfrm>
            <a:custGeom>
              <a:avLst/>
              <a:gdLst/>
              <a:ahLst/>
              <a:cxnLst/>
              <a:rect l="l" t="t" r="r" b="b"/>
              <a:pathLst>
                <a:path w="266235" h="131356">
                  <a:moveTo>
                    <a:pt x="0" y="0"/>
                  </a:moveTo>
                  <a:lnTo>
                    <a:pt x="266235" y="0"/>
                  </a:lnTo>
                  <a:lnTo>
                    <a:pt x="266235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266235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900869" y="7275304"/>
            <a:ext cx="318656" cy="498741"/>
            <a:chOff x="0" y="0"/>
            <a:chExt cx="83926" cy="13135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3926" cy="131356"/>
            </a:xfrm>
            <a:custGeom>
              <a:avLst/>
              <a:gdLst/>
              <a:ahLst/>
              <a:cxnLst/>
              <a:rect l="l" t="t" r="r" b="b"/>
              <a:pathLst>
                <a:path w="83926" h="131356">
                  <a:moveTo>
                    <a:pt x="0" y="0"/>
                  </a:moveTo>
                  <a:lnTo>
                    <a:pt x="83926" y="0"/>
                  </a:lnTo>
                  <a:lnTo>
                    <a:pt x="83926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83926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2232917" y="6572037"/>
            <a:ext cx="14659197" cy="116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&lt;img src=“picture.jpg" alt="reallygreatsite.com" width="104" height="142"&gt;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7524027" y="840108"/>
            <a:ext cx="1415649" cy="450247"/>
            <a:chOff x="0" y="0"/>
            <a:chExt cx="372846" cy="1185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72846" cy="118584"/>
            </a:xfrm>
            <a:custGeom>
              <a:avLst/>
              <a:gdLst/>
              <a:ahLst/>
              <a:cxnLst/>
              <a:rect l="l" t="t" r="r" b="b"/>
              <a:pathLst>
                <a:path w="372846" h="118584">
                  <a:moveTo>
                    <a:pt x="0" y="0"/>
                  </a:moveTo>
                  <a:lnTo>
                    <a:pt x="372846" y="0"/>
                  </a:lnTo>
                  <a:lnTo>
                    <a:pt x="372846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372846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7642938" y="834820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sp>
        <p:nvSpPr>
          <p:cNvPr id="99" name="Freeform 99"/>
          <p:cNvSpPr/>
          <p:nvPr/>
        </p:nvSpPr>
        <p:spPr>
          <a:xfrm>
            <a:off x="8648678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87" grpId="0"/>
      <p:bldP spid="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1337" y="1729271"/>
            <a:ext cx="2736123" cy="855484"/>
            <a:chOff x="0" y="0"/>
            <a:chExt cx="720625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0625" cy="225313"/>
            </a:xfrm>
            <a:custGeom>
              <a:avLst/>
              <a:gdLst/>
              <a:ahLst/>
              <a:cxnLst/>
              <a:rect l="l" t="t" r="r" b="b"/>
              <a:pathLst>
                <a:path w="720625" h="225313">
                  <a:moveTo>
                    <a:pt x="0" y="0"/>
                  </a:moveTo>
                  <a:lnTo>
                    <a:pt x="720625" y="0"/>
                  </a:lnTo>
                  <a:lnTo>
                    <a:pt x="720625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0625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657364" y="3166969"/>
            <a:ext cx="1610089" cy="523584"/>
            <a:chOff x="0" y="0"/>
            <a:chExt cx="424056" cy="13789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24056" cy="137899"/>
            </a:xfrm>
            <a:custGeom>
              <a:avLst/>
              <a:gdLst/>
              <a:ahLst/>
              <a:cxnLst/>
              <a:rect l="l" t="t" r="r" b="b"/>
              <a:pathLst>
                <a:path w="424056" h="137899">
                  <a:moveTo>
                    <a:pt x="0" y="0"/>
                  </a:moveTo>
                  <a:lnTo>
                    <a:pt x="424056" y="0"/>
                  </a:lnTo>
                  <a:lnTo>
                    <a:pt x="424056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424056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189646" y="4849867"/>
            <a:ext cx="5738690" cy="534760"/>
            <a:chOff x="0" y="0"/>
            <a:chExt cx="1511424" cy="14084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11425" cy="140842"/>
            </a:xfrm>
            <a:custGeom>
              <a:avLst/>
              <a:gdLst/>
              <a:ahLst/>
              <a:cxnLst/>
              <a:rect l="l" t="t" r="r" b="b"/>
              <a:pathLst>
                <a:path w="1511425" h="140842">
                  <a:moveTo>
                    <a:pt x="0" y="0"/>
                  </a:moveTo>
                  <a:lnTo>
                    <a:pt x="1511425" y="0"/>
                  </a:lnTo>
                  <a:lnTo>
                    <a:pt x="151142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511424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229279" y="5432252"/>
            <a:ext cx="3373008" cy="534760"/>
            <a:chOff x="0" y="0"/>
            <a:chExt cx="888364" cy="1408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88364" cy="140842"/>
            </a:xfrm>
            <a:custGeom>
              <a:avLst/>
              <a:gdLst/>
              <a:ahLst/>
              <a:cxnLst/>
              <a:rect l="l" t="t" r="r" b="b"/>
              <a:pathLst>
                <a:path w="888364" h="140842">
                  <a:moveTo>
                    <a:pt x="0" y="0"/>
                  </a:moveTo>
                  <a:lnTo>
                    <a:pt x="888364" y="0"/>
                  </a:lnTo>
                  <a:lnTo>
                    <a:pt x="888364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888364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688073" y="4849867"/>
            <a:ext cx="2914214" cy="534760"/>
            <a:chOff x="0" y="0"/>
            <a:chExt cx="767530" cy="14084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7530" cy="140842"/>
            </a:xfrm>
            <a:custGeom>
              <a:avLst/>
              <a:gdLst/>
              <a:ahLst/>
              <a:cxnLst/>
              <a:rect l="l" t="t" r="r" b="b"/>
              <a:pathLst>
                <a:path w="767530" h="140842">
                  <a:moveTo>
                    <a:pt x="0" y="0"/>
                  </a:moveTo>
                  <a:lnTo>
                    <a:pt x="767530" y="0"/>
                  </a:lnTo>
                  <a:lnTo>
                    <a:pt x="767530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767530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740528" y="5004426"/>
            <a:ext cx="278148" cy="278148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229279" y="6652812"/>
            <a:ext cx="4492309" cy="725762"/>
            <a:chOff x="0" y="0"/>
            <a:chExt cx="1183160" cy="191147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183160" cy="191147"/>
            </a:xfrm>
            <a:custGeom>
              <a:avLst/>
              <a:gdLst/>
              <a:ahLst/>
              <a:cxnLst/>
              <a:rect l="l" t="t" r="r" b="b"/>
              <a:pathLst>
                <a:path w="1183160" h="191147">
                  <a:moveTo>
                    <a:pt x="0" y="0"/>
                  </a:moveTo>
                  <a:lnTo>
                    <a:pt x="1183160" y="0"/>
                  </a:lnTo>
                  <a:lnTo>
                    <a:pt x="1183160" y="191147"/>
                  </a:lnTo>
                  <a:lnTo>
                    <a:pt x="0" y="191147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1183160" cy="229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2" name="Freeform 72"/>
          <p:cNvSpPr/>
          <p:nvPr/>
        </p:nvSpPr>
        <p:spPr>
          <a:xfrm>
            <a:off x="2480839" y="6760725"/>
            <a:ext cx="452569" cy="509936"/>
          </a:xfrm>
          <a:custGeom>
            <a:avLst/>
            <a:gdLst/>
            <a:ahLst/>
            <a:cxnLst/>
            <a:rect l="l" t="t" r="r" b="b"/>
            <a:pathLst>
              <a:path w="452569" h="509936">
                <a:moveTo>
                  <a:pt x="0" y="0"/>
                </a:moveTo>
                <a:lnTo>
                  <a:pt x="452568" y="0"/>
                </a:lnTo>
                <a:lnTo>
                  <a:pt x="452568" y="509936"/>
                </a:lnTo>
                <a:lnTo>
                  <a:pt x="0" y="50993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3" name="Freeform 73"/>
          <p:cNvSpPr/>
          <p:nvPr/>
        </p:nvSpPr>
        <p:spPr>
          <a:xfrm>
            <a:off x="6306173" y="6934054"/>
            <a:ext cx="187807" cy="181661"/>
          </a:xfrm>
          <a:custGeom>
            <a:avLst/>
            <a:gdLst/>
            <a:ahLst/>
            <a:cxnLst/>
            <a:rect l="l" t="t" r="r" b="b"/>
            <a:pathLst>
              <a:path w="187807" h="181661">
                <a:moveTo>
                  <a:pt x="0" y="0"/>
                </a:moveTo>
                <a:lnTo>
                  <a:pt x="187808" y="0"/>
                </a:lnTo>
                <a:lnTo>
                  <a:pt x="187808" y="181661"/>
                </a:lnTo>
                <a:lnTo>
                  <a:pt x="0" y="18166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4" name="Freeform 74"/>
          <p:cNvSpPr/>
          <p:nvPr/>
        </p:nvSpPr>
        <p:spPr>
          <a:xfrm rot="1658651" flipH="1" flipV="1">
            <a:off x="2637154" y="7540488"/>
            <a:ext cx="1794128" cy="1024746"/>
          </a:xfrm>
          <a:custGeom>
            <a:avLst/>
            <a:gdLst/>
            <a:ahLst/>
            <a:cxnLst/>
            <a:rect l="l" t="t" r="r" b="b"/>
            <a:pathLst>
              <a:path w="1794128" h="1024746">
                <a:moveTo>
                  <a:pt x="1794128" y="1024747"/>
                </a:moveTo>
                <a:lnTo>
                  <a:pt x="0" y="1024747"/>
                </a:lnTo>
                <a:lnTo>
                  <a:pt x="0" y="0"/>
                </a:lnTo>
                <a:lnTo>
                  <a:pt x="1794128" y="0"/>
                </a:lnTo>
                <a:lnTo>
                  <a:pt x="1794128" y="1024747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5" name="TextBox 75"/>
          <p:cNvSpPr txBox="1"/>
          <p:nvPr/>
        </p:nvSpPr>
        <p:spPr>
          <a:xfrm>
            <a:off x="1167925" y="1748446"/>
            <a:ext cx="6199056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FAVICON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232917" y="3061005"/>
            <a:ext cx="16036033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favicon is a small image, so it should be a simple image with high contrast.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favicon image is displayed to the left of the page title in the browser tab, like this: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067064" y="6758836"/>
            <a:ext cx="4941940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141312"/>
                </a:solidFill>
                <a:latin typeface="Consolas Bold"/>
                <a:ea typeface="Consolas Bold"/>
                <a:cs typeface="Consolas Bold"/>
                <a:sym typeface="Consolas Bold"/>
              </a:rPr>
              <a:t>Really Great Site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8626705" y="829218"/>
            <a:ext cx="1656651" cy="450247"/>
            <a:chOff x="0" y="0"/>
            <a:chExt cx="2208868" cy="600330"/>
          </a:xfrm>
        </p:grpSpPr>
        <p:grpSp>
          <p:nvGrpSpPr>
            <p:cNvPr id="93" name="Group 93"/>
            <p:cNvGrpSpPr/>
            <p:nvPr/>
          </p:nvGrpSpPr>
          <p:grpSpPr>
            <a:xfrm>
              <a:off x="0" y="0"/>
              <a:ext cx="2208868" cy="600330"/>
              <a:chOff x="0" y="0"/>
              <a:chExt cx="436320" cy="118584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436320" cy="118584"/>
              </a:xfrm>
              <a:custGeom>
                <a:avLst/>
                <a:gdLst/>
                <a:ahLst/>
                <a:cxnLst/>
                <a:rect l="l" t="t" r="r" b="b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0" y="-38100"/>
                <a:ext cx="436320" cy="15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sz="1600"/>
              </a:p>
            </p:txBody>
          </p:sp>
        </p:grpSp>
        <p:sp>
          <p:nvSpPr>
            <p:cNvPr id="96" name="TextBox 96"/>
            <p:cNvSpPr txBox="1"/>
            <p:nvPr/>
          </p:nvSpPr>
          <p:spPr>
            <a:xfrm>
              <a:off x="253599" y="18348"/>
              <a:ext cx="1414639" cy="425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Favicon</a:t>
              </a:r>
            </a:p>
          </p:txBody>
        </p:sp>
        <p:sp>
          <p:nvSpPr>
            <p:cNvPr id="97" name="Freeform 97"/>
            <p:cNvSpPr/>
            <p:nvPr/>
          </p:nvSpPr>
          <p:spPr>
            <a:xfrm>
              <a:off x="1859221" y="217246"/>
              <a:ext cx="171448" cy="165837"/>
            </a:xfrm>
            <a:custGeom>
              <a:avLst/>
              <a:gdLst/>
              <a:ahLst/>
              <a:cxnLst/>
              <a:rect l="l" t="t" r="r" b="b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85" grpId="0"/>
      <p:bldP spid="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1337" y="1729271"/>
            <a:ext cx="2736123" cy="855484"/>
            <a:chOff x="0" y="0"/>
            <a:chExt cx="720625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0625" cy="225313"/>
            </a:xfrm>
            <a:custGeom>
              <a:avLst/>
              <a:gdLst/>
              <a:ahLst/>
              <a:cxnLst/>
              <a:rect l="l" t="t" r="r" b="b"/>
              <a:pathLst>
                <a:path w="720625" h="225313">
                  <a:moveTo>
                    <a:pt x="0" y="0"/>
                  </a:moveTo>
                  <a:lnTo>
                    <a:pt x="720625" y="0"/>
                  </a:lnTo>
                  <a:lnTo>
                    <a:pt x="720625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0625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305287" y="1748446"/>
            <a:ext cx="5924332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FAVICON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626705" y="829218"/>
            <a:ext cx="1656651" cy="450247"/>
            <a:chOff x="0" y="0"/>
            <a:chExt cx="2208868" cy="600330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0"/>
              <a:ext cx="2208868" cy="600330"/>
              <a:chOff x="0" y="0"/>
              <a:chExt cx="436320" cy="118584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436320" cy="118584"/>
              </a:xfrm>
              <a:custGeom>
                <a:avLst/>
                <a:gdLst/>
                <a:ahLst/>
                <a:cxnLst/>
                <a:rect l="l" t="t" r="r" b="b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436320" cy="15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sz="1600"/>
              </a:p>
            </p:txBody>
          </p:sp>
        </p:grpSp>
        <p:sp>
          <p:nvSpPr>
            <p:cNvPr id="73" name="TextBox 73"/>
            <p:cNvSpPr txBox="1"/>
            <p:nvPr/>
          </p:nvSpPr>
          <p:spPr>
            <a:xfrm>
              <a:off x="253599" y="18348"/>
              <a:ext cx="1414639" cy="425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Favicon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1859221" y="217246"/>
              <a:ext cx="171448" cy="165837"/>
            </a:xfrm>
            <a:custGeom>
              <a:avLst/>
              <a:gdLst/>
              <a:ahLst/>
              <a:cxnLst/>
              <a:rect l="l" t="t" r="r" b="b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2232917" y="3063124"/>
            <a:ext cx="4261063" cy="59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2636965" y="5594622"/>
            <a:ext cx="9185308" cy="523584"/>
            <a:chOff x="0" y="0"/>
            <a:chExt cx="2419176" cy="13789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419176" cy="137899"/>
            </a:xfrm>
            <a:custGeom>
              <a:avLst/>
              <a:gdLst/>
              <a:ahLst/>
              <a:cxnLst/>
              <a:rect l="l" t="t" r="r" b="b"/>
              <a:pathLst>
                <a:path w="2419176" h="137899">
                  <a:moveTo>
                    <a:pt x="0" y="0"/>
                  </a:moveTo>
                  <a:lnTo>
                    <a:pt x="2419176" y="0"/>
                  </a:lnTo>
                  <a:lnTo>
                    <a:pt x="2419176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2419176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2271017" y="3794397"/>
            <a:ext cx="12937672" cy="580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&lt;title&gt;My Page Title&lt;/title&gt;</a:t>
            </a: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&lt;link </a:t>
            </a:r>
            <a:r>
              <a:rPr lang="en-US" sz="252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="icon" type="image/x-icon" </a:t>
            </a:r>
            <a:r>
              <a:rPr lang="en-US" sz="252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="favicon.ico"&gt;</a:t>
            </a: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</a:p>
          <a:p>
            <a:pPr algn="l">
              <a:lnSpc>
                <a:spcPts val="3538"/>
              </a:lnSpc>
            </a:pPr>
            <a:endParaRPr lang="en-US" sz="252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&lt;h1&gt;This is a Heading&lt;/h1&gt;</a:t>
            </a: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&lt;p&gt;This is a paragraph.&lt;/p&gt;</a:t>
            </a:r>
          </a:p>
          <a:p>
            <a:pPr algn="l">
              <a:lnSpc>
                <a:spcPts val="3538"/>
              </a:lnSpc>
            </a:pPr>
            <a:endParaRPr lang="en-US" sz="252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3538"/>
              </a:lnSpc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738C04-006A-5837-E7FD-D6E4CC9F1B0A}"/>
              </a:ext>
            </a:extLst>
          </p:cNvPr>
          <p:cNvSpPr/>
          <p:nvPr/>
        </p:nvSpPr>
        <p:spPr>
          <a:xfrm>
            <a:off x="689702" y="2552700"/>
            <a:ext cx="3276600" cy="830997"/>
          </a:xfrm>
          <a:prstGeom prst="roundRect">
            <a:avLst/>
          </a:prstGeom>
          <a:solidFill>
            <a:srgbClr val="5E17EB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0FB6B9-366C-C4C5-F98B-5D6C5B6B5C56}"/>
              </a:ext>
            </a:extLst>
          </p:cNvPr>
          <p:cNvSpPr/>
          <p:nvPr/>
        </p:nvSpPr>
        <p:spPr>
          <a:xfrm>
            <a:off x="722359" y="759079"/>
            <a:ext cx="8077200" cy="11620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80956" y="933450"/>
            <a:ext cx="9651907" cy="81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2"/>
              </a:lnSpc>
              <a:spcBef>
                <a:spcPct val="0"/>
              </a:spcBef>
            </a:pPr>
            <a:r>
              <a:rPr lang="en-US" sz="473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"Big 6" Semantic Tags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A03FFF-ECED-B0E7-463E-32AFCC00A4C2}"/>
              </a:ext>
            </a:extLst>
          </p:cNvPr>
          <p:cNvSpPr txBox="1"/>
          <p:nvPr/>
        </p:nvSpPr>
        <p:spPr>
          <a:xfrm>
            <a:off x="722359" y="2552700"/>
            <a:ext cx="3243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&lt;</a:t>
            </a:r>
            <a:r>
              <a:rPr lang="en-US" sz="4000" dirty="0">
                <a:solidFill>
                  <a:schemeClr val="bg1"/>
                </a:solidFill>
                <a:latin typeface="Canva Sans" panose="020B0604020202020204" charset="0"/>
              </a:rPr>
              <a:t>header</a:t>
            </a:r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&gt;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DB6C63B8-B009-0713-6FF1-9BBFE0ED5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1" y="3476659"/>
            <a:ext cx="12192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Represents the top section of a page or a section.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Usually contains logo, navigation, and titles.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EF3F659-97D7-4A3D-5CB1-275F6A31B73E}"/>
              </a:ext>
            </a:extLst>
          </p:cNvPr>
          <p:cNvSpPr/>
          <p:nvPr/>
        </p:nvSpPr>
        <p:spPr>
          <a:xfrm>
            <a:off x="657044" y="4594946"/>
            <a:ext cx="2049598" cy="830997"/>
          </a:xfrm>
          <a:prstGeom prst="roundRect">
            <a:avLst/>
          </a:prstGeom>
          <a:solidFill>
            <a:srgbClr val="5E17EB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8AC3FE-E56B-7549-4AC6-4130CBEA2D92}"/>
              </a:ext>
            </a:extLst>
          </p:cNvPr>
          <p:cNvSpPr txBox="1"/>
          <p:nvPr/>
        </p:nvSpPr>
        <p:spPr>
          <a:xfrm>
            <a:off x="689702" y="4594946"/>
            <a:ext cx="20169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&lt;</a:t>
            </a:r>
            <a:r>
              <a:rPr lang="en-US" sz="4000" dirty="0">
                <a:solidFill>
                  <a:schemeClr val="bg1"/>
                </a:solidFill>
                <a:latin typeface="Canva Sans" panose="020B0604020202020204" charset="0"/>
              </a:rPr>
              <a:t>nav</a:t>
            </a:r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&gt;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A8760E18-0DF5-4D39-4D8C-4E202859F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0" y="5467012"/>
            <a:ext cx="1420893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Contains navigation links.</a:t>
            </a:r>
          </a:p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Used for menus, sidebars, or any major group of links.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FD79D55-19BA-68C5-45AC-5DF7DEB76F28}"/>
              </a:ext>
            </a:extLst>
          </p:cNvPr>
          <p:cNvSpPr/>
          <p:nvPr/>
        </p:nvSpPr>
        <p:spPr>
          <a:xfrm>
            <a:off x="689702" y="6585299"/>
            <a:ext cx="3276600" cy="830997"/>
          </a:xfrm>
          <a:prstGeom prst="roundRect">
            <a:avLst/>
          </a:prstGeom>
          <a:solidFill>
            <a:srgbClr val="5E17EB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6BBE22-DA78-3C4E-A198-04FE93C30244}"/>
              </a:ext>
            </a:extLst>
          </p:cNvPr>
          <p:cNvSpPr txBox="1"/>
          <p:nvPr/>
        </p:nvSpPr>
        <p:spPr>
          <a:xfrm>
            <a:off x="722359" y="6585299"/>
            <a:ext cx="3243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&lt;</a:t>
            </a:r>
            <a:r>
              <a:rPr lang="en-US" sz="4000" dirty="0">
                <a:solidFill>
                  <a:schemeClr val="bg1"/>
                </a:solidFill>
                <a:latin typeface="Canva Sans" panose="020B0604020202020204" charset="0"/>
              </a:rPr>
              <a:t>main</a:t>
            </a:r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&gt;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BB75C116-D15E-3C92-29D4-6102110B8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1" y="7509258"/>
            <a:ext cx="12192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Holds the main unique content of the page.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Only one &lt;main&gt; per page.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0" grpId="0"/>
      <p:bldP spid="29" grpId="0" animBg="1"/>
      <p:bldP spid="30" grpId="0"/>
      <p:bldP spid="32" grpId="0" animBg="1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F1E30-7556-1C6D-4493-0B6A08EE9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E20AD8-B938-F054-9A6F-75ACE6885093}"/>
              </a:ext>
            </a:extLst>
          </p:cNvPr>
          <p:cNvSpPr/>
          <p:nvPr/>
        </p:nvSpPr>
        <p:spPr>
          <a:xfrm>
            <a:off x="689702" y="2552700"/>
            <a:ext cx="3276600" cy="830997"/>
          </a:xfrm>
          <a:prstGeom prst="roundRect">
            <a:avLst/>
          </a:prstGeom>
          <a:solidFill>
            <a:srgbClr val="5E17EB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2164D0-3F42-3160-FDB6-9DBA49E42CD2}"/>
              </a:ext>
            </a:extLst>
          </p:cNvPr>
          <p:cNvSpPr/>
          <p:nvPr/>
        </p:nvSpPr>
        <p:spPr>
          <a:xfrm>
            <a:off x="722359" y="759079"/>
            <a:ext cx="8077200" cy="11620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D8636B8-1202-E527-1649-4B8B5250507B}"/>
              </a:ext>
            </a:extLst>
          </p:cNvPr>
          <p:cNvSpPr txBox="1"/>
          <p:nvPr/>
        </p:nvSpPr>
        <p:spPr>
          <a:xfrm>
            <a:off x="-80956" y="933450"/>
            <a:ext cx="9651907" cy="81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2"/>
              </a:lnSpc>
              <a:spcBef>
                <a:spcPct val="0"/>
              </a:spcBef>
            </a:pPr>
            <a:r>
              <a:rPr lang="en-US" sz="473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"Big 6" Semantic Tags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6C994-2510-27CF-A590-DC7D3FC8AA37}"/>
              </a:ext>
            </a:extLst>
          </p:cNvPr>
          <p:cNvSpPr txBox="1"/>
          <p:nvPr/>
        </p:nvSpPr>
        <p:spPr>
          <a:xfrm>
            <a:off x="722359" y="2552700"/>
            <a:ext cx="3243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&lt;</a:t>
            </a:r>
            <a:r>
              <a:rPr lang="en-US" sz="4000" dirty="0">
                <a:solidFill>
                  <a:schemeClr val="bg1"/>
                </a:solidFill>
                <a:latin typeface="Canva Sans" panose="020B0604020202020204" charset="0"/>
              </a:rPr>
              <a:t>article</a:t>
            </a:r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&gt;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DF9EFD2B-7E03-788C-F2E2-BC93098B0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0" y="3476659"/>
            <a:ext cx="1344693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 standalone, self-contained piece of content.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Examples: blog post, news post, comment, card.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F8A2C46-8898-EB5C-86A8-1D7D7C11E52F}"/>
              </a:ext>
            </a:extLst>
          </p:cNvPr>
          <p:cNvSpPr/>
          <p:nvPr/>
        </p:nvSpPr>
        <p:spPr>
          <a:xfrm>
            <a:off x="689702" y="4553877"/>
            <a:ext cx="2779760" cy="913136"/>
          </a:xfrm>
          <a:prstGeom prst="roundRect">
            <a:avLst/>
          </a:prstGeom>
          <a:solidFill>
            <a:srgbClr val="5E17EB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1DA4E-6656-0DDF-39BE-650D472CBDD8}"/>
              </a:ext>
            </a:extLst>
          </p:cNvPr>
          <p:cNvSpPr txBox="1"/>
          <p:nvPr/>
        </p:nvSpPr>
        <p:spPr>
          <a:xfrm>
            <a:off x="689702" y="4607050"/>
            <a:ext cx="2779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&lt;</a:t>
            </a:r>
            <a:r>
              <a:rPr lang="en-US" sz="4000" dirty="0">
                <a:solidFill>
                  <a:schemeClr val="bg1"/>
                </a:solidFill>
                <a:latin typeface="Canva Sans" panose="020B0604020202020204" charset="0"/>
              </a:rPr>
              <a:t>section</a:t>
            </a:r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&gt;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305E4DB3-8B9D-FC25-1962-8DADB3363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0" y="5467012"/>
            <a:ext cx="1420893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Groups related content together.</a:t>
            </a:r>
          </a:p>
          <a:p>
            <a:pPr marL="457200" marR="0" lvl="0" indent="-4572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Often has a heading inside it.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CD8A53B-1E1B-FB44-9021-D0ED6F9AC9C3}"/>
              </a:ext>
            </a:extLst>
          </p:cNvPr>
          <p:cNvSpPr/>
          <p:nvPr/>
        </p:nvSpPr>
        <p:spPr>
          <a:xfrm>
            <a:off x="664575" y="6585299"/>
            <a:ext cx="2659196" cy="830998"/>
          </a:xfrm>
          <a:prstGeom prst="roundRect">
            <a:avLst/>
          </a:prstGeom>
          <a:solidFill>
            <a:srgbClr val="5E17EB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8BD9FA-BD75-22B6-F5A3-18AFED35E24F}"/>
              </a:ext>
            </a:extLst>
          </p:cNvPr>
          <p:cNvSpPr txBox="1"/>
          <p:nvPr/>
        </p:nvSpPr>
        <p:spPr>
          <a:xfrm>
            <a:off x="526552" y="6585299"/>
            <a:ext cx="29352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&lt;</a:t>
            </a:r>
            <a:r>
              <a:rPr lang="en-US" sz="4000" dirty="0">
                <a:solidFill>
                  <a:schemeClr val="bg1"/>
                </a:solidFill>
                <a:latin typeface="Canva Sans" panose="020B0604020202020204" charset="0"/>
              </a:rPr>
              <a:t>footer</a:t>
            </a:r>
            <a:r>
              <a:rPr lang="en-US" sz="4800" dirty="0">
                <a:solidFill>
                  <a:schemeClr val="bg1"/>
                </a:solidFill>
                <a:latin typeface="Canva Sans" panose="020B0604020202020204" charset="0"/>
              </a:rPr>
              <a:t>&gt;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00B91C0C-071A-B3AF-B061-C78051FAD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60" y="7509258"/>
            <a:ext cx="1428513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Bottom area of a section or the whole page.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Contains: copyright, links, contact info, author info.</a:t>
            </a:r>
          </a:p>
        </p:txBody>
      </p:sp>
    </p:spTree>
    <p:extLst>
      <p:ext uri="{BB962C8B-B14F-4D97-AF65-F5344CB8AC3E}">
        <p14:creationId xmlns:p14="http://schemas.microsoft.com/office/powerpoint/2010/main" val="3363403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0" grpId="0"/>
      <p:bldP spid="29" grpId="0" animBg="1"/>
      <p:bldP spid="30" grpId="0"/>
      <p:bldP spid="32" grpId="0" animBg="1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1337" y="1729271"/>
            <a:ext cx="1522016" cy="855484"/>
            <a:chOff x="0" y="0"/>
            <a:chExt cx="400860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860" cy="225313"/>
            </a:xfrm>
            <a:custGeom>
              <a:avLst/>
              <a:gdLst/>
              <a:ahLst/>
              <a:cxnLst/>
              <a:rect l="l" t="t" r="r" b="b"/>
              <a:pathLst>
                <a:path w="400860" h="225313">
                  <a:moveTo>
                    <a:pt x="0" y="0"/>
                  </a:moveTo>
                  <a:lnTo>
                    <a:pt x="400860" y="0"/>
                  </a:lnTo>
                  <a:lnTo>
                    <a:pt x="400860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0860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977164" y="1748446"/>
            <a:ext cx="5366471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LIST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8694375" y="82393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Favicon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232917" y="3061005"/>
            <a:ext cx="15858637" cy="116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HTML lists allow web developers to group a set of related items in lists.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740528" y="4815610"/>
            <a:ext cx="278148" cy="278148"/>
            <a:chOff x="0" y="0"/>
            <a:chExt cx="812800" cy="812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2232917" y="4570336"/>
            <a:ext cx="7320808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 unordered HTML list:</a:t>
            </a:r>
          </a:p>
          <a:p>
            <a:pPr marL="690296" lvl="1" indent="-345148" algn="l">
              <a:lnSpc>
                <a:spcPts val="4476"/>
              </a:lnSpc>
              <a:buFont typeface="Arial"/>
              <a:buChar char="•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</a:p>
          <a:p>
            <a:pPr marL="690296" lvl="1" indent="-345148" algn="l">
              <a:lnSpc>
                <a:spcPts val="4476"/>
              </a:lnSpc>
              <a:buFont typeface="Arial"/>
              <a:buChar char="•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</a:p>
          <a:p>
            <a:pPr marL="690296" lvl="1" indent="-345148" algn="l">
              <a:lnSpc>
                <a:spcPts val="4476"/>
              </a:lnSpc>
              <a:buFont typeface="Arial"/>
              <a:buChar char="•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</a:p>
          <a:p>
            <a:pPr marL="690296" lvl="1" indent="-345148" algn="l">
              <a:lnSpc>
                <a:spcPts val="4476"/>
              </a:lnSpc>
              <a:buFont typeface="Arial"/>
              <a:buChar char="•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9723979" y="4815610"/>
            <a:ext cx="278148" cy="278148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0211677" y="4570336"/>
            <a:ext cx="7047623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 ordered HTML list:</a:t>
            </a: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1. First item</a:t>
            </a: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2. Second item</a:t>
            </a: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3. Third item</a:t>
            </a: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4. Fourth item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9822029" y="840108"/>
            <a:ext cx="1238588" cy="450247"/>
            <a:chOff x="0" y="0"/>
            <a:chExt cx="326213" cy="11858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26213" cy="118584"/>
            </a:xfrm>
            <a:custGeom>
              <a:avLst/>
              <a:gdLst/>
              <a:ahLst/>
              <a:cxnLst/>
              <a:rect l="l" t="t" r="r" b="b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326213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9823024" y="834820"/>
            <a:ext cx="88993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</a:p>
        </p:txBody>
      </p:sp>
      <p:sp>
        <p:nvSpPr>
          <p:cNvPr id="86" name="Freeform 86"/>
          <p:cNvSpPr/>
          <p:nvPr/>
        </p:nvSpPr>
        <p:spPr>
          <a:xfrm>
            <a:off x="10741530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7" grpId="0"/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68834" y="1729271"/>
            <a:ext cx="1522016" cy="855484"/>
            <a:chOff x="0" y="0"/>
            <a:chExt cx="400860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860" cy="225313"/>
            </a:xfrm>
            <a:custGeom>
              <a:avLst/>
              <a:gdLst/>
              <a:ahLst/>
              <a:cxnLst/>
              <a:rect l="l" t="t" r="r" b="b"/>
              <a:pathLst>
                <a:path w="400860" h="225313">
                  <a:moveTo>
                    <a:pt x="0" y="0"/>
                  </a:moveTo>
                  <a:lnTo>
                    <a:pt x="400860" y="0"/>
                  </a:lnTo>
                  <a:lnTo>
                    <a:pt x="400860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0860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026083" y="1748446"/>
            <a:ext cx="7389306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UNORDERED LIST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8694375" y="82393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Favicon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9823024" y="3166969"/>
            <a:ext cx="982799" cy="523584"/>
            <a:chOff x="0" y="0"/>
            <a:chExt cx="258844" cy="137899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58844" cy="137899"/>
            </a:xfrm>
            <a:custGeom>
              <a:avLst/>
              <a:gdLst/>
              <a:ahLst/>
              <a:cxnLst/>
              <a:rect l="l" t="t" r="r" b="b"/>
              <a:pathLst>
                <a:path w="258844" h="137899">
                  <a:moveTo>
                    <a:pt x="0" y="0"/>
                  </a:moveTo>
                  <a:lnTo>
                    <a:pt x="258844" y="0"/>
                  </a:lnTo>
                  <a:lnTo>
                    <a:pt x="25884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258844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245439" y="3737280"/>
            <a:ext cx="1012187" cy="523584"/>
            <a:chOff x="0" y="0"/>
            <a:chExt cx="266584" cy="13789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66584" cy="137899"/>
            </a:xfrm>
            <a:custGeom>
              <a:avLst/>
              <a:gdLst/>
              <a:ahLst/>
              <a:cxnLst/>
              <a:rect l="l" t="t" r="r" b="b"/>
              <a:pathLst>
                <a:path w="266584" h="137899">
                  <a:moveTo>
                    <a:pt x="0" y="0"/>
                  </a:moveTo>
                  <a:lnTo>
                    <a:pt x="266584" y="0"/>
                  </a:lnTo>
                  <a:lnTo>
                    <a:pt x="26658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266584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159352" y="4876120"/>
            <a:ext cx="8494614" cy="534760"/>
            <a:chOff x="0" y="0"/>
            <a:chExt cx="2237265" cy="14084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237265" cy="140842"/>
            </a:xfrm>
            <a:custGeom>
              <a:avLst/>
              <a:gdLst/>
              <a:ahLst/>
              <a:cxnLst/>
              <a:rect l="l" t="t" r="r" b="b"/>
              <a:pathLst>
                <a:path w="2237265" h="140842">
                  <a:moveTo>
                    <a:pt x="0" y="0"/>
                  </a:moveTo>
                  <a:lnTo>
                    <a:pt x="2237265" y="0"/>
                  </a:lnTo>
                  <a:lnTo>
                    <a:pt x="22372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2237265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2232917" y="3061005"/>
            <a:ext cx="16055083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 unordered list starts with the &lt;ul&gt; tag. Each list item starts with the &lt;li&gt; tag.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list items will be marked with bullets (small black circles) by default: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1740528" y="4968010"/>
            <a:ext cx="278148" cy="278148"/>
            <a:chOff x="0" y="0"/>
            <a:chExt cx="812800" cy="812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822029" y="840108"/>
            <a:ext cx="1238588" cy="450247"/>
            <a:chOff x="0" y="0"/>
            <a:chExt cx="326213" cy="1185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26213" cy="118584"/>
            </a:xfrm>
            <a:custGeom>
              <a:avLst/>
              <a:gdLst/>
              <a:ahLst/>
              <a:cxnLst/>
              <a:rect l="l" t="t" r="r" b="b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326213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9823024" y="834820"/>
            <a:ext cx="88993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</a:p>
        </p:txBody>
      </p:sp>
      <p:sp>
        <p:nvSpPr>
          <p:cNvPr id="90" name="Freeform 90"/>
          <p:cNvSpPr/>
          <p:nvPr/>
        </p:nvSpPr>
        <p:spPr>
          <a:xfrm>
            <a:off x="10741530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91" name="Group 91"/>
          <p:cNvGrpSpPr/>
          <p:nvPr/>
        </p:nvGrpSpPr>
        <p:grpSpPr>
          <a:xfrm>
            <a:off x="1727625" y="6473321"/>
            <a:ext cx="278148" cy="278148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2232917" y="6227488"/>
            <a:ext cx="4776086" cy="59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4852359" y="7511211"/>
            <a:ext cx="1116475" cy="498741"/>
            <a:chOff x="0" y="0"/>
            <a:chExt cx="294051" cy="13135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94051" cy="131356"/>
            </a:xfrm>
            <a:custGeom>
              <a:avLst/>
              <a:gdLst/>
              <a:ahLst/>
              <a:cxnLst/>
              <a:rect l="l" t="t" r="r" b="b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294051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4178890" y="8076627"/>
            <a:ext cx="1116475" cy="498741"/>
            <a:chOff x="0" y="0"/>
            <a:chExt cx="294051" cy="13135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294051" cy="131356"/>
            </a:xfrm>
            <a:custGeom>
              <a:avLst/>
              <a:gdLst/>
              <a:ahLst/>
              <a:cxnLst/>
              <a:rect l="l" t="t" r="r" b="b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294051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4485812" y="8651569"/>
            <a:ext cx="1116475" cy="498741"/>
            <a:chOff x="0" y="0"/>
            <a:chExt cx="294051" cy="13135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94051" cy="131356"/>
            </a:xfrm>
            <a:custGeom>
              <a:avLst/>
              <a:gdLst/>
              <a:ahLst/>
              <a:cxnLst/>
              <a:rect l="l" t="t" r="r" b="b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294051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2179315" y="9244761"/>
            <a:ext cx="1116475" cy="498741"/>
            <a:chOff x="0" y="0"/>
            <a:chExt cx="294051" cy="13135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94051" cy="131356"/>
            </a:xfrm>
            <a:custGeom>
              <a:avLst/>
              <a:gdLst/>
              <a:ahLst/>
              <a:cxnLst/>
              <a:rect l="l" t="t" r="r" b="b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294051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2556767" y="7501686"/>
            <a:ext cx="935690" cy="498741"/>
            <a:chOff x="0" y="0"/>
            <a:chExt cx="246437" cy="131356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46437" cy="131356"/>
            </a:xfrm>
            <a:custGeom>
              <a:avLst/>
              <a:gdLst/>
              <a:ahLst/>
              <a:cxnLst/>
              <a:rect l="l" t="t" r="r" b="b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246437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2179315" y="6926745"/>
            <a:ext cx="935690" cy="498741"/>
            <a:chOff x="0" y="0"/>
            <a:chExt cx="246437" cy="13135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246437" cy="131356"/>
            </a:xfrm>
            <a:custGeom>
              <a:avLst/>
              <a:gdLst/>
              <a:ahLst/>
              <a:cxnLst/>
              <a:rect l="l" t="t" r="r" b="b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246437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2556767" y="8076627"/>
            <a:ext cx="935690" cy="498741"/>
            <a:chOff x="0" y="0"/>
            <a:chExt cx="246437" cy="13135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246437" cy="131356"/>
            </a:xfrm>
            <a:custGeom>
              <a:avLst/>
              <a:gdLst/>
              <a:ahLst/>
              <a:cxnLst/>
              <a:rect l="l" t="t" r="r" b="b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246437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2556767" y="8651569"/>
            <a:ext cx="935690" cy="498741"/>
            <a:chOff x="0" y="0"/>
            <a:chExt cx="246437" cy="131356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246437" cy="131356"/>
            </a:xfrm>
            <a:custGeom>
              <a:avLst/>
              <a:gdLst/>
              <a:ahLst/>
              <a:cxnLst/>
              <a:rect l="l" t="t" r="r" b="b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246437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9" name="TextBox 119"/>
          <p:cNvSpPr txBox="1"/>
          <p:nvPr/>
        </p:nvSpPr>
        <p:spPr>
          <a:xfrm>
            <a:off x="2179315" y="6835568"/>
            <a:ext cx="5187666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&lt;li&gt;Coffee&lt;/li&gt;</a:t>
            </a: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&lt;li&gt;Tea&lt;/li&gt;</a:t>
            </a: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&lt;li&gt;Milk&lt;/li&gt;</a:t>
            </a: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160269" y="7399816"/>
            <a:ext cx="5291109" cy="1728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296" lvl="1" indent="-345148" algn="l">
              <a:lnSpc>
                <a:spcPts val="4476"/>
              </a:lnSpc>
              <a:buFont typeface="Arial"/>
              <a:buChar char="•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Coffee</a:t>
            </a:r>
          </a:p>
          <a:p>
            <a:pPr marL="690296" lvl="1" indent="-345148" algn="l">
              <a:lnSpc>
                <a:spcPts val="4476"/>
              </a:lnSpc>
              <a:buFont typeface="Arial"/>
              <a:buChar char="•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Tea</a:t>
            </a:r>
          </a:p>
          <a:p>
            <a:pPr marL="690296" lvl="1" indent="-345148" algn="l">
              <a:lnSpc>
                <a:spcPts val="4476"/>
              </a:lnSpc>
              <a:buFont typeface="Arial"/>
              <a:buChar char="•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Milk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9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57344" y="1729271"/>
            <a:ext cx="1522016" cy="855484"/>
            <a:chOff x="0" y="0"/>
            <a:chExt cx="400860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860" cy="225313"/>
            </a:xfrm>
            <a:custGeom>
              <a:avLst/>
              <a:gdLst/>
              <a:ahLst/>
              <a:cxnLst/>
              <a:rect l="l" t="t" r="r" b="b"/>
              <a:pathLst>
                <a:path w="400860" h="225313">
                  <a:moveTo>
                    <a:pt x="0" y="0"/>
                  </a:moveTo>
                  <a:lnTo>
                    <a:pt x="400860" y="0"/>
                  </a:lnTo>
                  <a:lnTo>
                    <a:pt x="400860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0860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94825" y="1748446"/>
            <a:ext cx="7269365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ORDERED LIST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8694375" y="82393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Favicon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9331624" y="3166969"/>
            <a:ext cx="982799" cy="523584"/>
            <a:chOff x="0" y="0"/>
            <a:chExt cx="258844" cy="137899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58844" cy="137899"/>
            </a:xfrm>
            <a:custGeom>
              <a:avLst/>
              <a:gdLst/>
              <a:ahLst/>
              <a:cxnLst/>
              <a:rect l="l" t="t" r="r" b="b"/>
              <a:pathLst>
                <a:path w="258844" h="137899">
                  <a:moveTo>
                    <a:pt x="0" y="0"/>
                  </a:moveTo>
                  <a:lnTo>
                    <a:pt x="258844" y="0"/>
                  </a:lnTo>
                  <a:lnTo>
                    <a:pt x="25884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258844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245439" y="3737280"/>
            <a:ext cx="1012187" cy="523584"/>
            <a:chOff x="0" y="0"/>
            <a:chExt cx="266584" cy="13789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66584" cy="137899"/>
            </a:xfrm>
            <a:custGeom>
              <a:avLst/>
              <a:gdLst/>
              <a:ahLst/>
              <a:cxnLst/>
              <a:rect l="l" t="t" r="r" b="b"/>
              <a:pathLst>
                <a:path w="266584" h="137899">
                  <a:moveTo>
                    <a:pt x="0" y="0"/>
                  </a:moveTo>
                  <a:lnTo>
                    <a:pt x="266584" y="0"/>
                  </a:lnTo>
                  <a:lnTo>
                    <a:pt x="26658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266584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159352" y="4876120"/>
            <a:ext cx="8494614" cy="534760"/>
            <a:chOff x="0" y="0"/>
            <a:chExt cx="2237265" cy="14084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237265" cy="140842"/>
            </a:xfrm>
            <a:custGeom>
              <a:avLst/>
              <a:gdLst/>
              <a:ahLst/>
              <a:cxnLst/>
              <a:rect l="l" t="t" r="r" b="b"/>
              <a:pathLst>
                <a:path w="2237265" h="140842">
                  <a:moveTo>
                    <a:pt x="0" y="0"/>
                  </a:moveTo>
                  <a:lnTo>
                    <a:pt x="2237265" y="0"/>
                  </a:lnTo>
                  <a:lnTo>
                    <a:pt x="22372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2237265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2232917" y="3061005"/>
            <a:ext cx="16036033" cy="2290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 ordered list starts with the &lt;ol&gt; tag. Each list item starts with the &lt;li&gt; tag.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The list items will be marked with numbers by default: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1740528" y="4968010"/>
            <a:ext cx="278148" cy="278148"/>
            <a:chOff x="0" y="0"/>
            <a:chExt cx="812800" cy="812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822029" y="840108"/>
            <a:ext cx="1238588" cy="450247"/>
            <a:chOff x="0" y="0"/>
            <a:chExt cx="326213" cy="11858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26213" cy="118584"/>
            </a:xfrm>
            <a:custGeom>
              <a:avLst/>
              <a:gdLst/>
              <a:ahLst/>
              <a:cxnLst/>
              <a:rect l="l" t="t" r="r" b="b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326213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9823024" y="834820"/>
            <a:ext cx="88993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</a:p>
        </p:txBody>
      </p:sp>
      <p:sp>
        <p:nvSpPr>
          <p:cNvPr id="90" name="Freeform 90"/>
          <p:cNvSpPr/>
          <p:nvPr/>
        </p:nvSpPr>
        <p:spPr>
          <a:xfrm>
            <a:off x="10741530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91" name="Group 91"/>
          <p:cNvGrpSpPr/>
          <p:nvPr/>
        </p:nvGrpSpPr>
        <p:grpSpPr>
          <a:xfrm>
            <a:off x="1727625" y="5970058"/>
            <a:ext cx="278148" cy="278148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2271017" y="5743495"/>
            <a:ext cx="2921730" cy="59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4852359" y="7230685"/>
            <a:ext cx="1116475" cy="498741"/>
            <a:chOff x="0" y="0"/>
            <a:chExt cx="294051" cy="13135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94051" cy="131356"/>
            </a:xfrm>
            <a:custGeom>
              <a:avLst/>
              <a:gdLst/>
              <a:ahLst/>
              <a:cxnLst/>
              <a:rect l="l" t="t" r="r" b="b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294051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4178890" y="7796101"/>
            <a:ext cx="1116475" cy="498741"/>
            <a:chOff x="0" y="0"/>
            <a:chExt cx="294051" cy="13135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294051" cy="131356"/>
            </a:xfrm>
            <a:custGeom>
              <a:avLst/>
              <a:gdLst/>
              <a:ahLst/>
              <a:cxnLst/>
              <a:rect l="l" t="t" r="r" b="b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294051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4485812" y="8371042"/>
            <a:ext cx="1116475" cy="498741"/>
            <a:chOff x="0" y="0"/>
            <a:chExt cx="294051" cy="13135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94051" cy="131356"/>
            </a:xfrm>
            <a:custGeom>
              <a:avLst/>
              <a:gdLst/>
              <a:ahLst/>
              <a:cxnLst/>
              <a:rect l="l" t="t" r="r" b="b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294051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2179315" y="8964235"/>
            <a:ext cx="1116475" cy="498741"/>
            <a:chOff x="0" y="0"/>
            <a:chExt cx="294051" cy="13135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94051" cy="131356"/>
            </a:xfrm>
            <a:custGeom>
              <a:avLst/>
              <a:gdLst/>
              <a:ahLst/>
              <a:cxnLst/>
              <a:rect l="l" t="t" r="r" b="b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294051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2556767" y="7221160"/>
            <a:ext cx="935690" cy="498741"/>
            <a:chOff x="0" y="0"/>
            <a:chExt cx="246437" cy="131356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46437" cy="131356"/>
            </a:xfrm>
            <a:custGeom>
              <a:avLst/>
              <a:gdLst/>
              <a:ahLst/>
              <a:cxnLst/>
              <a:rect l="l" t="t" r="r" b="b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246437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2179315" y="6646218"/>
            <a:ext cx="935690" cy="498741"/>
            <a:chOff x="0" y="0"/>
            <a:chExt cx="246437" cy="13135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246437" cy="131356"/>
            </a:xfrm>
            <a:custGeom>
              <a:avLst/>
              <a:gdLst/>
              <a:ahLst/>
              <a:cxnLst/>
              <a:rect l="l" t="t" r="r" b="b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246437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2556767" y="7796101"/>
            <a:ext cx="935690" cy="498741"/>
            <a:chOff x="0" y="0"/>
            <a:chExt cx="246437" cy="13135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246437" cy="131356"/>
            </a:xfrm>
            <a:custGeom>
              <a:avLst/>
              <a:gdLst/>
              <a:ahLst/>
              <a:cxnLst/>
              <a:rect l="l" t="t" r="r" b="b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246437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2556767" y="8371042"/>
            <a:ext cx="935690" cy="498741"/>
            <a:chOff x="0" y="0"/>
            <a:chExt cx="246437" cy="131356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246437" cy="131356"/>
            </a:xfrm>
            <a:custGeom>
              <a:avLst/>
              <a:gdLst/>
              <a:ahLst/>
              <a:cxnLst/>
              <a:rect l="l" t="t" r="r" b="b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246437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9" name="TextBox 119"/>
          <p:cNvSpPr txBox="1"/>
          <p:nvPr/>
        </p:nvSpPr>
        <p:spPr>
          <a:xfrm>
            <a:off x="2179315" y="6579543"/>
            <a:ext cx="5428824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319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ol</a:t>
            </a: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&lt;li&gt;Coffee&lt;/li&gt;</a:t>
            </a: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&lt;li&gt;Tea&lt;/li&gt;</a:t>
            </a: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&lt;li&gt;Milk&lt;/li&gt;</a:t>
            </a: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3197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ol</a:t>
            </a: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160269" y="7399816"/>
            <a:ext cx="5291109" cy="1728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296" lvl="1" indent="-345148" algn="l">
              <a:lnSpc>
                <a:spcPts val="4476"/>
              </a:lnSpc>
              <a:buAutoNum type="arabicPeriod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Coffee</a:t>
            </a:r>
          </a:p>
          <a:p>
            <a:pPr marL="690296" lvl="1" indent="-345148" algn="l">
              <a:lnSpc>
                <a:spcPts val="4476"/>
              </a:lnSpc>
              <a:buAutoNum type="arabicPeriod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Tea</a:t>
            </a:r>
          </a:p>
          <a:p>
            <a:pPr marL="690296" lvl="1" indent="-345148" algn="l">
              <a:lnSpc>
                <a:spcPts val="4476"/>
              </a:lnSpc>
              <a:buAutoNum type="arabicPeriod"/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Milk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94" grpId="0"/>
      <p:bldP spid="119" grpId="0"/>
      <p:bldP spid="1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62287" y="1729271"/>
            <a:ext cx="2043315" cy="855484"/>
            <a:chOff x="0" y="0"/>
            <a:chExt cx="538157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8157" cy="225313"/>
            </a:xfrm>
            <a:custGeom>
              <a:avLst/>
              <a:gdLst/>
              <a:ahLst/>
              <a:cxnLst/>
              <a:rect l="l" t="t" r="r" b="b"/>
              <a:pathLst>
                <a:path w="538157" h="225313">
                  <a:moveTo>
                    <a:pt x="0" y="0"/>
                  </a:moveTo>
                  <a:lnTo>
                    <a:pt x="538157" y="0"/>
                  </a:lnTo>
                  <a:lnTo>
                    <a:pt x="538157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8157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454506" y="3163387"/>
            <a:ext cx="2525497" cy="523584"/>
            <a:chOff x="0" y="0"/>
            <a:chExt cx="665151" cy="13789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65151" cy="137899"/>
            </a:xfrm>
            <a:custGeom>
              <a:avLst/>
              <a:gdLst/>
              <a:ahLst/>
              <a:cxnLst/>
              <a:rect l="l" t="t" r="r" b="b"/>
              <a:pathLst>
                <a:path w="665151" h="137899">
                  <a:moveTo>
                    <a:pt x="0" y="0"/>
                  </a:moveTo>
                  <a:lnTo>
                    <a:pt x="665151" y="0"/>
                  </a:lnTo>
                  <a:lnTo>
                    <a:pt x="66515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665151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656514" y="3163387"/>
            <a:ext cx="1061208" cy="523584"/>
            <a:chOff x="0" y="0"/>
            <a:chExt cx="279495" cy="13789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79495" cy="137899"/>
            </a:xfrm>
            <a:custGeom>
              <a:avLst/>
              <a:gdLst/>
              <a:ahLst/>
              <a:cxnLst/>
              <a:rect l="l" t="t" r="r" b="b"/>
              <a:pathLst>
                <a:path w="279495" h="137899">
                  <a:moveTo>
                    <a:pt x="0" y="0"/>
                  </a:moveTo>
                  <a:lnTo>
                    <a:pt x="279495" y="0"/>
                  </a:lnTo>
                  <a:lnTo>
                    <a:pt x="279495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279495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622597" y="3184830"/>
            <a:ext cx="1639217" cy="523584"/>
            <a:chOff x="0" y="0"/>
            <a:chExt cx="431728" cy="13789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31728" cy="137899"/>
            </a:xfrm>
            <a:custGeom>
              <a:avLst/>
              <a:gdLst/>
              <a:ahLst/>
              <a:cxnLst/>
              <a:rect l="l" t="t" r="r" b="b"/>
              <a:pathLst>
                <a:path w="431728" h="137899">
                  <a:moveTo>
                    <a:pt x="0" y="0"/>
                  </a:moveTo>
                  <a:lnTo>
                    <a:pt x="431728" y="0"/>
                  </a:lnTo>
                  <a:lnTo>
                    <a:pt x="431728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431728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740528" y="4120285"/>
            <a:ext cx="278148" cy="278148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712955" y="840108"/>
            <a:ext cx="1374104" cy="450247"/>
            <a:chOff x="0" y="0"/>
            <a:chExt cx="361904" cy="11858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61904" cy="118584"/>
            </a:xfrm>
            <a:custGeom>
              <a:avLst/>
              <a:gdLst/>
              <a:ahLst/>
              <a:cxnLst/>
              <a:rect l="l" t="t" r="r" b="b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36190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75" name="Freeform 75"/>
          <p:cNvSpPr/>
          <p:nvPr/>
        </p:nvSpPr>
        <p:spPr>
          <a:xfrm>
            <a:off x="11746838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aphicFrame>
        <p:nvGraphicFramePr>
          <p:cNvPr id="76" name="Table 76"/>
          <p:cNvGraphicFramePr>
            <a:graphicFrameLocks noGrp="1"/>
          </p:cNvGraphicFramePr>
          <p:nvPr/>
        </p:nvGraphicFramePr>
        <p:xfrm>
          <a:off x="7828150" y="6061088"/>
          <a:ext cx="9431151" cy="2677072"/>
        </p:xfrm>
        <a:graphic>
          <a:graphicData uri="http://schemas.openxmlformats.org/drawingml/2006/table">
            <a:tbl>
              <a:tblPr/>
              <a:tblGrid>
                <a:gridCol w="3143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8536">
                <a:tc>
                  <a:txBody>
                    <a:bodyPr/>
                    <a:lstStyle/>
                    <a:p>
                      <a:pPr algn="ctr">
                        <a:lnSpc>
                          <a:spcPts val="4269"/>
                        </a:lnSpc>
                        <a:defRPr/>
                      </a:pPr>
                      <a:r>
                        <a:rPr lang="en-US" sz="304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Company</a:t>
                      </a:r>
                      <a:endParaRPr lang="en-US" sz="1100"/>
                    </a:p>
                  </a:txBody>
                  <a:tcPr marL="245603" marR="245603" marT="245603" marB="245603" anchor="ctr">
                    <a:lnL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69"/>
                        </a:lnSpc>
                        <a:defRPr/>
                      </a:pPr>
                      <a:r>
                        <a:rPr lang="en-US" sz="304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Contact</a:t>
                      </a:r>
                      <a:endParaRPr lang="en-US" sz="1100"/>
                    </a:p>
                  </a:txBody>
                  <a:tcPr marL="245603" marR="245603" marT="245603" marB="245603" anchor="ctr">
                    <a:lnL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69"/>
                        </a:lnSpc>
                        <a:defRPr/>
                      </a:pPr>
                      <a:r>
                        <a:rPr lang="en-US" sz="304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Country</a:t>
                      </a:r>
                      <a:endParaRPr lang="en-US" sz="1100"/>
                    </a:p>
                  </a:txBody>
                  <a:tcPr marL="245603" marR="245603" marT="245603" marB="245603" anchor="ctr">
                    <a:lnL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8536">
                <a:tc>
                  <a:txBody>
                    <a:bodyPr/>
                    <a:lstStyle/>
                    <a:p>
                      <a:pPr algn="ctr">
                        <a:lnSpc>
                          <a:spcPts val="3289"/>
                        </a:lnSpc>
                        <a:defRPr/>
                      </a:pPr>
                      <a:r>
                        <a:rPr lang="en-US" sz="234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Alfreds Futter</a:t>
                      </a:r>
                      <a:endParaRPr lang="en-US" sz="1100"/>
                    </a:p>
                  </a:txBody>
                  <a:tcPr marL="245603" marR="245603" marT="245603" marB="245603" anchor="ctr">
                    <a:lnL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9"/>
                        </a:lnSpc>
                        <a:defRPr/>
                      </a:pPr>
                      <a:r>
                        <a:rPr lang="en-US" sz="234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Maria Anders</a:t>
                      </a:r>
                      <a:endParaRPr lang="en-US" sz="1100"/>
                    </a:p>
                  </a:txBody>
                  <a:tcPr marL="245603" marR="245603" marT="245603" marB="245603" anchor="ctr">
                    <a:lnL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9"/>
                        </a:lnSpc>
                        <a:defRPr/>
                      </a:pPr>
                      <a:r>
                        <a:rPr lang="en-US" sz="2349" dirty="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Germany</a:t>
                      </a:r>
                      <a:endParaRPr lang="en-US" sz="1100" dirty="0"/>
                    </a:p>
                  </a:txBody>
                  <a:tcPr marL="245603" marR="245603" marT="245603" marB="245603" anchor="ctr">
                    <a:lnL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912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" name="TextBox 77"/>
          <p:cNvSpPr txBox="1"/>
          <p:nvPr/>
        </p:nvSpPr>
        <p:spPr>
          <a:xfrm>
            <a:off x="1007892" y="1748446"/>
            <a:ext cx="5807264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TABLE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694375" y="82393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Favicon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232917" y="3061005"/>
            <a:ext cx="15872661" cy="60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table in HTML consists of table cells inside rows and columns.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823024" y="834820"/>
            <a:ext cx="88993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186349" y="3865552"/>
            <a:ext cx="2921730" cy="59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C1FF72"/>
                </a:solidFill>
                <a:latin typeface="Consolas"/>
                <a:ea typeface="Consolas"/>
                <a:cs typeface="Consolas"/>
                <a:sym typeface="Consolas"/>
              </a:rPr>
              <a:t>Example code: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232917" y="4558725"/>
            <a:ext cx="8179628" cy="516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&lt;table&gt;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&lt;tr&gt;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-US" sz="2434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&gt;Company&lt;/</a:t>
            </a:r>
            <a:r>
              <a:rPr lang="en-US" sz="2434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-US" sz="2434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&gt;Contact&lt;/</a:t>
            </a:r>
            <a:r>
              <a:rPr lang="en-US" sz="2434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-US" sz="2434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&gt;Country&lt;/</a:t>
            </a:r>
            <a:r>
              <a:rPr lang="en-US" sz="2434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&lt;/tr&gt;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&lt;tr&gt;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&lt;td&gt;Alfreds Futter&lt;/td&gt;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&lt;td&gt;Maria Anders&lt;/td&gt;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&lt;td&gt;Germany&lt;/td&gt;</a:t>
            </a:r>
          </a:p>
          <a:p>
            <a:pPr algn="l">
              <a:lnSpc>
                <a:spcPts val="3408"/>
              </a:lnSpc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&lt;/tr&gt;</a:t>
            </a:r>
          </a:p>
          <a:p>
            <a:pPr algn="l">
              <a:lnSpc>
                <a:spcPts val="3408"/>
              </a:lnSpc>
              <a:spcBef>
                <a:spcPct val="0"/>
              </a:spcBef>
            </a:pPr>
            <a:r>
              <a:rPr lang="en-US" sz="2434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&lt;/table&gt;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817730" y="834820"/>
            <a:ext cx="8624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62287" y="1729271"/>
            <a:ext cx="2043315" cy="855484"/>
            <a:chOff x="0" y="0"/>
            <a:chExt cx="538157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8157" cy="225313"/>
            </a:xfrm>
            <a:custGeom>
              <a:avLst/>
              <a:gdLst/>
              <a:ahLst/>
              <a:cxnLst/>
              <a:rect l="l" t="t" r="r" b="b"/>
              <a:pathLst>
                <a:path w="538157" h="225313">
                  <a:moveTo>
                    <a:pt x="0" y="0"/>
                  </a:moveTo>
                  <a:lnTo>
                    <a:pt x="538157" y="0"/>
                  </a:lnTo>
                  <a:lnTo>
                    <a:pt x="538157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8157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398738" y="3163387"/>
            <a:ext cx="869252" cy="523584"/>
            <a:chOff x="0" y="0"/>
            <a:chExt cx="228939" cy="13789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8939" cy="137899"/>
            </a:xfrm>
            <a:custGeom>
              <a:avLst/>
              <a:gdLst/>
              <a:ahLst/>
              <a:cxnLst/>
              <a:rect l="l" t="t" r="r" b="b"/>
              <a:pathLst>
                <a:path w="228939" h="137899">
                  <a:moveTo>
                    <a:pt x="0" y="0"/>
                  </a:moveTo>
                  <a:lnTo>
                    <a:pt x="228939" y="0"/>
                  </a:lnTo>
                  <a:lnTo>
                    <a:pt x="228939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228939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811131" y="3163387"/>
            <a:ext cx="1239116" cy="523584"/>
            <a:chOff x="0" y="0"/>
            <a:chExt cx="326352" cy="13789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26352" cy="137899"/>
            </a:xfrm>
            <a:custGeom>
              <a:avLst/>
              <a:gdLst/>
              <a:ahLst/>
              <a:cxnLst/>
              <a:rect l="l" t="t" r="r" b="b"/>
              <a:pathLst>
                <a:path w="326352" h="137899">
                  <a:moveTo>
                    <a:pt x="0" y="0"/>
                  </a:moveTo>
                  <a:lnTo>
                    <a:pt x="326352" y="0"/>
                  </a:lnTo>
                  <a:lnTo>
                    <a:pt x="326352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326352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257626" y="4287254"/>
            <a:ext cx="2350513" cy="534760"/>
            <a:chOff x="0" y="0"/>
            <a:chExt cx="619065" cy="14084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19065" cy="140842"/>
            </a:xfrm>
            <a:custGeom>
              <a:avLst/>
              <a:gdLst/>
              <a:ahLst/>
              <a:cxnLst/>
              <a:rect l="l" t="t" r="r" b="b"/>
              <a:pathLst>
                <a:path w="619065" h="140842">
                  <a:moveTo>
                    <a:pt x="0" y="0"/>
                  </a:moveTo>
                  <a:lnTo>
                    <a:pt x="619065" y="0"/>
                  </a:lnTo>
                  <a:lnTo>
                    <a:pt x="6190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619065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232917" y="4287254"/>
            <a:ext cx="494608" cy="534760"/>
            <a:chOff x="0" y="0"/>
            <a:chExt cx="130267" cy="14084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30267" cy="140842"/>
            </a:xfrm>
            <a:custGeom>
              <a:avLst/>
              <a:gdLst/>
              <a:ahLst/>
              <a:cxnLst/>
              <a:rect l="l" t="t" r="r" b="b"/>
              <a:pathLst>
                <a:path w="130267" h="140842">
                  <a:moveTo>
                    <a:pt x="0" y="0"/>
                  </a:moveTo>
                  <a:lnTo>
                    <a:pt x="130267" y="0"/>
                  </a:lnTo>
                  <a:lnTo>
                    <a:pt x="13026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30267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464639" y="5412086"/>
            <a:ext cx="1213449" cy="498741"/>
            <a:chOff x="0" y="0"/>
            <a:chExt cx="319592" cy="13135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9592" cy="131356"/>
            </a:xfrm>
            <a:custGeom>
              <a:avLst/>
              <a:gdLst/>
              <a:ahLst/>
              <a:cxnLst/>
              <a:rect l="l" t="t" r="r" b="b"/>
              <a:pathLst>
                <a:path w="319592" h="131356">
                  <a:moveTo>
                    <a:pt x="0" y="0"/>
                  </a:moveTo>
                  <a:lnTo>
                    <a:pt x="319592" y="0"/>
                  </a:lnTo>
                  <a:lnTo>
                    <a:pt x="319592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19592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32883" y="5412086"/>
            <a:ext cx="934099" cy="498741"/>
            <a:chOff x="0" y="0"/>
            <a:chExt cx="246018" cy="13135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6018" cy="131356"/>
            </a:xfrm>
            <a:custGeom>
              <a:avLst/>
              <a:gdLst/>
              <a:ahLst/>
              <a:cxnLst/>
              <a:rect l="l" t="t" r="r" b="b"/>
              <a:pathLst>
                <a:path w="246018" h="131356">
                  <a:moveTo>
                    <a:pt x="0" y="0"/>
                  </a:moveTo>
                  <a:lnTo>
                    <a:pt x="246018" y="0"/>
                  </a:lnTo>
                  <a:lnTo>
                    <a:pt x="246018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246018" cy="169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740528" y="4415560"/>
            <a:ext cx="278148" cy="278148"/>
            <a:chOff x="0" y="0"/>
            <a:chExt cx="812800" cy="812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712955" y="840108"/>
            <a:ext cx="1374104" cy="450247"/>
            <a:chOff x="0" y="0"/>
            <a:chExt cx="361904" cy="11858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61904" cy="118584"/>
            </a:xfrm>
            <a:custGeom>
              <a:avLst/>
              <a:gdLst/>
              <a:ahLst/>
              <a:cxnLst/>
              <a:rect l="l" t="t" r="r" b="b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36190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84" name="Freeform 84"/>
          <p:cNvSpPr/>
          <p:nvPr/>
        </p:nvSpPr>
        <p:spPr>
          <a:xfrm>
            <a:off x="11746838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85" name="Group 85"/>
          <p:cNvGrpSpPr/>
          <p:nvPr/>
        </p:nvGrpSpPr>
        <p:grpSpPr>
          <a:xfrm>
            <a:off x="1740528" y="5522383"/>
            <a:ext cx="278148" cy="278148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88"/>
          <p:cNvSpPr/>
          <p:nvPr/>
        </p:nvSpPr>
        <p:spPr>
          <a:xfrm>
            <a:off x="4848382" y="6009790"/>
            <a:ext cx="7232516" cy="3779864"/>
          </a:xfrm>
          <a:custGeom>
            <a:avLst/>
            <a:gdLst/>
            <a:ahLst/>
            <a:cxnLst/>
            <a:rect l="l" t="t" r="r" b="b"/>
            <a:pathLst>
              <a:path w="7232516" h="3779864">
                <a:moveTo>
                  <a:pt x="0" y="0"/>
                </a:moveTo>
                <a:lnTo>
                  <a:pt x="7232515" y="0"/>
                </a:lnTo>
                <a:lnTo>
                  <a:pt x="7232515" y="3779864"/>
                </a:lnTo>
                <a:lnTo>
                  <a:pt x="0" y="3779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9" name="TextBox 89"/>
          <p:cNvSpPr txBox="1"/>
          <p:nvPr/>
        </p:nvSpPr>
        <p:spPr>
          <a:xfrm>
            <a:off x="1205588" y="1748446"/>
            <a:ext cx="5411872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CELLS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694375" y="82393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Favicon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232917" y="3061005"/>
            <a:ext cx="18583132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Each table cell is defined by a &lt;td&gt; and a &lt;/td&gt; tag.</a:t>
            </a:r>
          </a:p>
          <a:p>
            <a:pPr algn="l">
              <a:lnSpc>
                <a:spcPts val="4476"/>
              </a:lnSpc>
            </a:pPr>
            <a:endParaRPr lang="en-US" sz="319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td stands for table data.</a:t>
            </a:r>
          </a:p>
          <a:p>
            <a:pPr algn="l">
              <a:lnSpc>
                <a:spcPts val="4476"/>
              </a:lnSpc>
            </a:pPr>
            <a:endParaRPr lang="en-US" sz="319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Everything between &lt;td&gt; and &lt;/td&gt; are the content of the table cell.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823024" y="834820"/>
            <a:ext cx="88993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817730" y="834820"/>
            <a:ext cx="8624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0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62287" y="1729271"/>
            <a:ext cx="2043315" cy="855484"/>
            <a:chOff x="0" y="0"/>
            <a:chExt cx="538157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8157" cy="225313"/>
            </a:xfrm>
            <a:custGeom>
              <a:avLst/>
              <a:gdLst/>
              <a:ahLst/>
              <a:cxnLst/>
              <a:rect l="l" t="t" r="r" b="b"/>
              <a:pathLst>
                <a:path w="538157" h="225313">
                  <a:moveTo>
                    <a:pt x="0" y="0"/>
                  </a:moveTo>
                  <a:lnTo>
                    <a:pt x="538157" y="0"/>
                  </a:lnTo>
                  <a:lnTo>
                    <a:pt x="538157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8157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05588" y="1748446"/>
            <a:ext cx="5411872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ROWS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8694375" y="82393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Favicon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8694375" y="3163387"/>
            <a:ext cx="859351" cy="523584"/>
            <a:chOff x="0" y="0"/>
            <a:chExt cx="226331" cy="137899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26331" cy="137899"/>
            </a:xfrm>
            <a:custGeom>
              <a:avLst/>
              <a:gdLst/>
              <a:ahLst/>
              <a:cxnLst/>
              <a:rect l="l" t="t" r="r" b="b"/>
              <a:pathLst>
                <a:path w="226331" h="137899">
                  <a:moveTo>
                    <a:pt x="0" y="0"/>
                  </a:moveTo>
                  <a:lnTo>
                    <a:pt x="226331" y="0"/>
                  </a:lnTo>
                  <a:lnTo>
                    <a:pt x="22633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226331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3341438" y="3163387"/>
            <a:ext cx="1157717" cy="523584"/>
            <a:chOff x="0" y="0"/>
            <a:chExt cx="304913" cy="13789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04913" cy="137899"/>
            </a:xfrm>
            <a:custGeom>
              <a:avLst/>
              <a:gdLst/>
              <a:ahLst/>
              <a:cxnLst/>
              <a:rect l="l" t="t" r="r" b="b"/>
              <a:pathLst>
                <a:path w="304913" h="137899">
                  <a:moveTo>
                    <a:pt x="0" y="0"/>
                  </a:moveTo>
                  <a:lnTo>
                    <a:pt x="304913" y="0"/>
                  </a:lnTo>
                  <a:lnTo>
                    <a:pt x="30491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304913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257626" y="4287254"/>
            <a:ext cx="2350513" cy="534760"/>
            <a:chOff x="0" y="0"/>
            <a:chExt cx="619065" cy="14084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19065" cy="140842"/>
            </a:xfrm>
            <a:custGeom>
              <a:avLst/>
              <a:gdLst/>
              <a:ahLst/>
              <a:cxnLst/>
              <a:rect l="l" t="t" r="r" b="b"/>
              <a:pathLst>
                <a:path w="619065" h="140842">
                  <a:moveTo>
                    <a:pt x="0" y="0"/>
                  </a:moveTo>
                  <a:lnTo>
                    <a:pt x="619065" y="0"/>
                  </a:lnTo>
                  <a:lnTo>
                    <a:pt x="6190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619065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2232917" y="4287254"/>
            <a:ext cx="494608" cy="534760"/>
            <a:chOff x="0" y="0"/>
            <a:chExt cx="130267" cy="14084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30267" cy="140842"/>
            </a:xfrm>
            <a:custGeom>
              <a:avLst/>
              <a:gdLst/>
              <a:ahLst/>
              <a:cxnLst/>
              <a:rect l="l" t="t" r="r" b="b"/>
              <a:pathLst>
                <a:path w="130267" h="140842">
                  <a:moveTo>
                    <a:pt x="0" y="0"/>
                  </a:moveTo>
                  <a:lnTo>
                    <a:pt x="130267" y="0"/>
                  </a:lnTo>
                  <a:lnTo>
                    <a:pt x="13026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130267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2232917" y="3061005"/>
            <a:ext cx="15626324" cy="2290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Each table row starts with a &lt;tr&gt; and ends with a &lt;/tr&gt; tag.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 stands for table row.</a:t>
            </a:r>
          </a:p>
          <a:p>
            <a:pPr algn="l">
              <a:lnSpc>
                <a:spcPts val="4476"/>
              </a:lnSpc>
              <a:spcBef>
                <a:spcPct val="0"/>
              </a:spcBef>
            </a:pPr>
            <a:endParaRPr lang="en-US" sz="3197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6" name="Group 86"/>
          <p:cNvGrpSpPr/>
          <p:nvPr/>
        </p:nvGrpSpPr>
        <p:grpSpPr>
          <a:xfrm>
            <a:off x="1740528" y="4415560"/>
            <a:ext cx="278148" cy="278148"/>
            <a:chOff x="0" y="0"/>
            <a:chExt cx="812800" cy="8128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9823024" y="834820"/>
            <a:ext cx="88993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0712955" y="840108"/>
            <a:ext cx="1374104" cy="450247"/>
            <a:chOff x="0" y="0"/>
            <a:chExt cx="361904" cy="11858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61904" cy="118584"/>
            </a:xfrm>
            <a:custGeom>
              <a:avLst/>
              <a:gdLst/>
              <a:ahLst/>
              <a:cxnLst/>
              <a:rect l="l" t="t" r="r" b="b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36190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0817730" y="834820"/>
            <a:ext cx="8624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</a:p>
        </p:txBody>
      </p:sp>
      <p:sp>
        <p:nvSpPr>
          <p:cNvPr id="97" name="Freeform 97"/>
          <p:cNvSpPr/>
          <p:nvPr/>
        </p:nvSpPr>
        <p:spPr>
          <a:xfrm>
            <a:off x="11746838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98" name="Freeform 98"/>
          <p:cNvSpPr/>
          <p:nvPr/>
        </p:nvSpPr>
        <p:spPr>
          <a:xfrm>
            <a:off x="4848382" y="6009790"/>
            <a:ext cx="7232516" cy="3779864"/>
          </a:xfrm>
          <a:custGeom>
            <a:avLst/>
            <a:gdLst/>
            <a:ahLst/>
            <a:cxnLst/>
            <a:rect l="l" t="t" r="r" b="b"/>
            <a:pathLst>
              <a:path w="7232516" h="3779864">
                <a:moveTo>
                  <a:pt x="0" y="0"/>
                </a:moveTo>
                <a:lnTo>
                  <a:pt x="7232515" y="0"/>
                </a:lnTo>
                <a:lnTo>
                  <a:pt x="7232515" y="3779864"/>
                </a:lnTo>
                <a:lnTo>
                  <a:pt x="0" y="3779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62287" y="1729271"/>
            <a:ext cx="2938708" cy="855484"/>
            <a:chOff x="0" y="0"/>
            <a:chExt cx="773981" cy="225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3981" cy="225313"/>
            </a:xfrm>
            <a:custGeom>
              <a:avLst/>
              <a:gdLst/>
              <a:ahLst/>
              <a:cxnLst/>
              <a:rect l="l" t="t" r="r" b="b"/>
              <a:pathLst>
                <a:path w="773981" h="225313">
                  <a:moveTo>
                    <a:pt x="0" y="0"/>
                  </a:moveTo>
                  <a:lnTo>
                    <a:pt x="773981" y="0"/>
                  </a:lnTo>
                  <a:lnTo>
                    <a:pt x="773981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73981" cy="26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84069" y="8922964"/>
            <a:ext cx="1993888" cy="670671"/>
          </a:xfrm>
          <a:custGeom>
            <a:avLst/>
            <a:gdLst/>
            <a:ahLst/>
            <a:cxnLst/>
            <a:rect l="l" t="t" r="r" b="b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3" name="Group 13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297902" y="193058"/>
            <a:ext cx="356180" cy="406430"/>
          </a:xfrm>
          <a:custGeom>
            <a:avLst/>
            <a:gdLst/>
            <a:ahLst/>
            <a:cxnLst/>
            <a:rect l="l" t="t" r="r" b="b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25" name="Freeform 25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6" name="Group 26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30" name="Group 30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452" y="814871"/>
            <a:ext cx="17468548" cy="450247"/>
            <a:chOff x="0" y="0"/>
            <a:chExt cx="4600770" cy="118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019496" y="1748446"/>
            <a:ext cx="6679448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HTML HEADERS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" y="82123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Headings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79739" y="821237"/>
            <a:ext cx="120475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Paragraph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903497" y="83482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H_Rules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57626" y="835585"/>
            <a:ext cx="108600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L_Breaks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617460" y="834820"/>
            <a:ext cx="74952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Links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608139" y="835585"/>
            <a:ext cx="93445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Images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8694375" y="823930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Favicon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2232917" y="4822013"/>
            <a:ext cx="494608" cy="534760"/>
            <a:chOff x="0" y="0"/>
            <a:chExt cx="130267" cy="14084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30267" cy="140842"/>
            </a:xfrm>
            <a:custGeom>
              <a:avLst/>
              <a:gdLst/>
              <a:ahLst/>
              <a:cxnLst/>
              <a:rect l="l" t="t" r="r" b="b"/>
              <a:pathLst>
                <a:path w="130267" h="140842">
                  <a:moveTo>
                    <a:pt x="0" y="0"/>
                  </a:moveTo>
                  <a:lnTo>
                    <a:pt x="130267" y="0"/>
                  </a:lnTo>
                  <a:lnTo>
                    <a:pt x="13026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130267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348429" y="3775380"/>
            <a:ext cx="859351" cy="523584"/>
            <a:chOff x="0" y="0"/>
            <a:chExt cx="226331" cy="13789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6331" cy="137899"/>
            </a:xfrm>
            <a:custGeom>
              <a:avLst/>
              <a:gdLst/>
              <a:ahLst/>
              <a:cxnLst/>
              <a:rect l="l" t="t" r="r" b="b"/>
              <a:pathLst>
                <a:path w="226331" h="137899">
                  <a:moveTo>
                    <a:pt x="0" y="0"/>
                  </a:moveTo>
                  <a:lnTo>
                    <a:pt x="226331" y="0"/>
                  </a:lnTo>
                  <a:lnTo>
                    <a:pt x="22633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226331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717707" y="3775380"/>
            <a:ext cx="962455" cy="523584"/>
            <a:chOff x="0" y="0"/>
            <a:chExt cx="253486" cy="137899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53486" cy="137899"/>
            </a:xfrm>
            <a:custGeom>
              <a:avLst/>
              <a:gdLst/>
              <a:ahLst/>
              <a:cxnLst/>
              <a:rect l="l" t="t" r="r" b="b"/>
              <a:pathLst>
                <a:path w="253486" h="137899">
                  <a:moveTo>
                    <a:pt x="0" y="0"/>
                  </a:moveTo>
                  <a:lnTo>
                    <a:pt x="253486" y="0"/>
                  </a:lnTo>
                  <a:lnTo>
                    <a:pt x="253486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253486" cy="175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318724" y="4876120"/>
            <a:ext cx="2756642" cy="534760"/>
            <a:chOff x="0" y="0"/>
            <a:chExt cx="726029" cy="14084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26029" cy="140842"/>
            </a:xfrm>
            <a:custGeom>
              <a:avLst/>
              <a:gdLst/>
              <a:ahLst/>
              <a:cxnLst/>
              <a:rect l="l" t="t" r="r" b="b"/>
              <a:pathLst>
                <a:path w="726029" h="140842">
                  <a:moveTo>
                    <a:pt x="0" y="0"/>
                  </a:moveTo>
                  <a:lnTo>
                    <a:pt x="726029" y="0"/>
                  </a:lnTo>
                  <a:lnTo>
                    <a:pt x="726029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726029" cy="17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2232917" y="3061005"/>
            <a:ext cx="15626324" cy="285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Sometimes you want your cells to be table header cells. In those cases use the &lt;th&gt; tag instead of the &lt;td&gt; tag: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 stands for table header.</a:t>
            </a:r>
          </a:p>
          <a:p>
            <a:pPr algn="l">
              <a:lnSpc>
                <a:spcPts val="4476"/>
              </a:lnSpc>
              <a:spcBef>
                <a:spcPct val="0"/>
              </a:spcBef>
            </a:pPr>
            <a:endParaRPr lang="en-US" sz="3197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6" name="Group 86"/>
          <p:cNvGrpSpPr/>
          <p:nvPr/>
        </p:nvGrpSpPr>
        <p:grpSpPr>
          <a:xfrm>
            <a:off x="1740528" y="4950319"/>
            <a:ext cx="278148" cy="278148"/>
            <a:chOff x="0" y="0"/>
            <a:chExt cx="812800" cy="8128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9823024" y="834820"/>
            <a:ext cx="889931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0712955" y="840108"/>
            <a:ext cx="1374104" cy="450247"/>
            <a:chOff x="0" y="0"/>
            <a:chExt cx="361904" cy="11858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61904" cy="118584"/>
            </a:xfrm>
            <a:custGeom>
              <a:avLst/>
              <a:gdLst/>
              <a:ahLst/>
              <a:cxnLst/>
              <a:rect l="l" t="t" r="r" b="b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36190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0817730" y="834820"/>
            <a:ext cx="8624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</a:p>
        </p:txBody>
      </p:sp>
      <p:sp>
        <p:nvSpPr>
          <p:cNvPr id="97" name="Freeform 97"/>
          <p:cNvSpPr/>
          <p:nvPr/>
        </p:nvSpPr>
        <p:spPr>
          <a:xfrm>
            <a:off x="11746838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98" name="Freeform 98"/>
          <p:cNvSpPr/>
          <p:nvPr/>
        </p:nvSpPr>
        <p:spPr>
          <a:xfrm>
            <a:off x="4848382" y="6009790"/>
            <a:ext cx="7232516" cy="3779864"/>
          </a:xfrm>
          <a:custGeom>
            <a:avLst/>
            <a:gdLst/>
            <a:ahLst/>
            <a:cxnLst/>
            <a:rect l="l" t="t" r="r" b="b"/>
            <a:pathLst>
              <a:path w="7232516" h="3779864">
                <a:moveTo>
                  <a:pt x="0" y="0"/>
                </a:moveTo>
                <a:lnTo>
                  <a:pt x="7232515" y="0"/>
                </a:lnTo>
                <a:lnTo>
                  <a:pt x="7232515" y="3779864"/>
                </a:lnTo>
                <a:lnTo>
                  <a:pt x="0" y="3779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62287" y="1729271"/>
            <a:ext cx="1486142" cy="903772"/>
            <a:chOff x="0" y="0"/>
            <a:chExt cx="391412" cy="2380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1412" cy="238030"/>
            </a:xfrm>
            <a:custGeom>
              <a:avLst/>
              <a:gdLst/>
              <a:ahLst/>
              <a:cxnLst/>
              <a:rect l="l" t="t" r="r" b="b"/>
              <a:pathLst>
                <a:path w="391412" h="238030">
                  <a:moveTo>
                    <a:pt x="0" y="0"/>
                  </a:moveTo>
                  <a:lnTo>
                    <a:pt x="391412" y="0"/>
                  </a:lnTo>
                  <a:lnTo>
                    <a:pt x="391412" y="238030"/>
                  </a:lnTo>
                  <a:lnTo>
                    <a:pt x="0" y="23803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91412" cy="276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528" y="3289686"/>
            <a:ext cx="278148" cy="2781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24" name="Group 24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7" name="AutoShape 27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28" name="Group 28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2161" y="814871"/>
            <a:ext cx="17468548" cy="450247"/>
            <a:chOff x="0" y="0"/>
            <a:chExt cx="4600770" cy="11858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-232032" y="1728801"/>
            <a:ext cx="7684975" cy="75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  <a:spcBef>
                <a:spcPct val="0"/>
              </a:spcBef>
            </a:pPr>
            <a:r>
              <a:rPr lang="en-US" sz="4366" b="1" spc="598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Style </a:t>
            </a:r>
            <a:r>
              <a:rPr lang="en-US" sz="4366" b="1" spc="598" dirty="0" err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css</a:t>
            </a:r>
            <a:r>
              <a:rPr lang="en-US" sz="4366" b="1" spc="598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     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2232917" y="2803830"/>
            <a:ext cx="15897792" cy="437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3"/>
              </a:lnSpc>
            </a:pPr>
            <a:r>
              <a:rPr lang="en-US" sz="2997" b="1" dirty="0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Cascading Style Sheets</a:t>
            </a:r>
          </a:p>
          <a:p>
            <a:pPr algn="l">
              <a:lnSpc>
                <a:spcPts val="6983"/>
              </a:lnSpc>
            </a:pPr>
            <a:r>
              <a:rPr lang="en-US" sz="29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CSS describes how HTML elements should be </a:t>
            </a:r>
            <a:r>
              <a:rPr lang="en-US" sz="2997" b="1" dirty="0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displayed</a:t>
            </a:r>
            <a:r>
              <a:rPr lang="en-US" sz="29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 algn="l">
              <a:lnSpc>
                <a:spcPts val="6983"/>
              </a:lnSpc>
            </a:pPr>
            <a:r>
              <a:rPr lang="en-US" sz="2997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It controls the layout, colors, fonts, and overall visual appearance of a web page.</a:t>
            </a:r>
          </a:p>
          <a:p>
            <a:pPr algn="l">
              <a:lnSpc>
                <a:spcPts val="6983"/>
              </a:lnSpc>
            </a:pPr>
            <a:endParaRPr lang="en-US" sz="2997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5" name="Group 65"/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38502" y="840108"/>
            <a:ext cx="1374104" cy="450247"/>
            <a:chOff x="0" y="0"/>
            <a:chExt cx="361904" cy="11858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61904" cy="118584"/>
            </a:xfrm>
            <a:custGeom>
              <a:avLst/>
              <a:gdLst/>
              <a:ahLst/>
              <a:cxnLst/>
              <a:rect l="l" t="t" r="r" b="b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36190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23925" y="846475"/>
            <a:ext cx="862433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</a:t>
            </a:r>
          </a:p>
        </p:txBody>
      </p:sp>
      <p:sp>
        <p:nvSpPr>
          <p:cNvPr id="72" name="Freeform 72"/>
          <p:cNvSpPr/>
          <p:nvPr/>
        </p:nvSpPr>
        <p:spPr>
          <a:xfrm>
            <a:off x="1954383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73" name="Freeform 73"/>
          <p:cNvSpPr/>
          <p:nvPr/>
        </p:nvSpPr>
        <p:spPr>
          <a:xfrm>
            <a:off x="197333" y="182890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74" name="Group 74"/>
          <p:cNvGrpSpPr/>
          <p:nvPr/>
        </p:nvGrpSpPr>
        <p:grpSpPr>
          <a:xfrm>
            <a:off x="1727625" y="6905664"/>
            <a:ext cx="278148" cy="278148"/>
            <a:chOff x="0" y="0"/>
            <a:chExt cx="812800" cy="812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2271017" y="6600864"/>
            <a:ext cx="11833793" cy="399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24"/>
              </a:lnSpc>
            </a:pPr>
            <a:r>
              <a:rPr lang="en-US" sz="2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CSS rule is made of three parts:</a:t>
            </a:r>
          </a:p>
          <a:p>
            <a:pPr marL="604521" lvl="1" indent="-302261" algn="just">
              <a:lnSpc>
                <a:spcPts val="652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Selector: The HTML element to target.</a:t>
            </a:r>
          </a:p>
          <a:p>
            <a:pPr marL="604521" lvl="1" indent="-302261" algn="just">
              <a:lnSpc>
                <a:spcPts val="652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Property: The visual aspect to change.</a:t>
            </a:r>
          </a:p>
          <a:p>
            <a:pPr marL="604521" lvl="1" indent="-302261" algn="just">
              <a:lnSpc>
                <a:spcPts val="6524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Value: The new setting for that property.</a:t>
            </a:r>
          </a:p>
          <a:p>
            <a:pPr algn="just">
              <a:lnSpc>
                <a:spcPts val="6524"/>
              </a:lnSpc>
            </a:pPr>
            <a:endParaRPr lang="en-US" sz="28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8" name="Freeform 78"/>
          <p:cNvSpPr/>
          <p:nvPr/>
        </p:nvSpPr>
        <p:spPr>
          <a:xfrm>
            <a:off x="17026886" y="9107862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9" name="Freeform 79"/>
          <p:cNvSpPr/>
          <p:nvPr/>
        </p:nvSpPr>
        <p:spPr>
          <a:xfrm>
            <a:off x="10539359" y="5846374"/>
            <a:ext cx="5476777" cy="3943280"/>
          </a:xfrm>
          <a:custGeom>
            <a:avLst/>
            <a:gdLst/>
            <a:ahLst/>
            <a:cxnLst/>
            <a:rect l="l" t="t" r="r" b="b"/>
            <a:pathLst>
              <a:path w="5476777" h="3943280">
                <a:moveTo>
                  <a:pt x="0" y="0"/>
                </a:moveTo>
                <a:lnTo>
                  <a:pt x="5476778" y="0"/>
                </a:lnTo>
                <a:lnTo>
                  <a:pt x="5476778" y="3943280"/>
                </a:lnTo>
                <a:lnTo>
                  <a:pt x="0" y="3943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77" grpId="0"/>
      <p:bldP spid="7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E594B-1AE9-E3D0-71C4-40639C0A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059EBF9A-93CE-DB0A-4FFB-E1FB93B677B9}"/>
              </a:ext>
            </a:extLst>
          </p:cNvPr>
          <p:cNvSpPr/>
          <p:nvPr/>
        </p:nvSpPr>
        <p:spPr>
          <a:xfrm>
            <a:off x="1222786" y="1641724"/>
            <a:ext cx="4001729" cy="1327545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6FF32DC-AD22-0AD9-6B8D-96D0FDFEE5C7}"/>
              </a:ext>
            </a:extLst>
          </p:cNvPr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488131-58F0-E969-425B-E7E170674BA7}"/>
                </a:ext>
              </a:extLst>
            </p:cNvPr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2A62F2D-B3FA-784D-3C59-CCBB263B5E1C}"/>
                </a:ext>
              </a:extLst>
            </p:cNvPr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E393970-4ECE-960D-0C74-ABB352988A73}"/>
              </a:ext>
            </a:extLst>
          </p:cNvPr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EEB40EE-E544-26E2-EDB7-56DED7914B78}"/>
              </a:ext>
            </a:extLst>
          </p:cNvPr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00883E-762E-BA9B-45A5-B1DE895265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F924EF5-A063-7BD4-7D73-D945D946FE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5DBA611-B4AD-5347-93CC-7638F9139508}"/>
              </a:ext>
            </a:extLst>
          </p:cNvPr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DE4BE0F-AA30-16F6-5F46-C730959766C9}"/>
              </a:ext>
            </a:extLst>
          </p:cNvPr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DDD9928-4B8D-FBC1-8A33-9F9C4CC13153}"/>
              </a:ext>
            </a:extLst>
          </p:cNvPr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30EDAD4-1217-64F5-FB04-E84150632190}"/>
              </a:ext>
            </a:extLst>
          </p:cNvPr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8DA4BB6-BF00-C236-3A6A-48B1F15B0596}"/>
              </a:ext>
            </a:extLst>
          </p:cNvPr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B3861F1-5788-58CE-A65B-767B719871AE}"/>
              </a:ext>
            </a:extLst>
          </p:cNvPr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94DD94E-A1D6-AEDB-2777-61C5496F9FF3}"/>
                </a:ext>
              </a:extLst>
            </p:cNvPr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B45399B-1A67-460B-B1FA-19E513164E27}"/>
                </a:ext>
              </a:extLst>
            </p:cNvPr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9A2C6F68-31CE-F158-2C24-EF515E81DA8E}"/>
              </a:ext>
            </a:extLst>
          </p:cNvPr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283617F-6B94-C620-AFB2-0F3832BFD892}"/>
              </a:ext>
            </a:extLst>
          </p:cNvPr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6ACBED4-D676-A634-ADBC-49794BD90940}"/>
                </a:ext>
              </a:extLst>
            </p:cNvPr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941580F6-F398-B5CB-B9BC-292AE4FFDAA4}"/>
                </a:ext>
              </a:extLst>
            </p:cNvPr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A5D2E99F-26B5-508B-5279-E8763DD2084B}"/>
              </a:ext>
            </a:extLst>
          </p:cNvPr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7543A85-20A4-BA29-512D-35BFF4D5FB9A}"/>
              </a:ext>
            </a:extLst>
          </p:cNvPr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10C4355-FD5E-04B5-6A06-4C69054640D5}"/>
                </a:ext>
              </a:extLst>
            </p:cNvPr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91CCFC5-6DA2-8174-1BFD-401D26E37C7D}"/>
                </a:ext>
              </a:extLst>
            </p:cNvPr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B19C155-C45B-1748-7811-26E34D08E4F8}"/>
              </a:ext>
            </a:extLst>
          </p:cNvPr>
          <p:cNvGrpSpPr/>
          <p:nvPr/>
        </p:nvGrpSpPr>
        <p:grpSpPr>
          <a:xfrm>
            <a:off x="662161" y="814871"/>
            <a:ext cx="17468548" cy="450247"/>
            <a:chOff x="0" y="0"/>
            <a:chExt cx="4600770" cy="118584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F088FE73-9C0E-3D61-11B6-3E3DF6A4B5E0}"/>
                </a:ext>
              </a:extLst>
            </p:cNvPr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824D825-F6AA-863A-FE8E-A31F981DF707}"/>
                </a:ext>
              </a:extLst>
            </p:cNvPr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D60E346-26F0-A866-EE37-5307FA7D15C2}"/>
              </a:ext>
            </a:extLst>
          </p:cNvPr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BACA86A-91E6-CABC-3D28-8056A8B87D37}"/>
                </a:ext>
              </a:extLst>
            </p:cNvPr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8B147A11-7E55-3B7F-1F96-A9A4449FF45B}"/>
                </a:ext>
              </a:extLst>
            </p:cNvPr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7203A4F-7E6D-A0F7-D80D-211911B91D5A}"/>
              </a:ext>
            </a:extLst>
          </p:cNvPr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5439B4B-A7AC-646D-A0E8-2A46C6DE1F22}"/>
                </a:ext>
              </a:extLst>
            </p:cNvPr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2075A2A-1C3C-E463-84CF-074FD00AEC75}"/>
                </a:ext>
              </a:extLst>
            </p:cNvPr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BC27BE4A-8F97-649B-A301-2392D931834F}"/>
              </a:ext>
            </a:extLst>
          </p:cNvPr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71BC952-6A8F-F391-3494-5146DF29C4D6}"/>
                </a:ext>
              </a:extLst>
            </p:cNvPr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47DD31F0-D480-EC24-BED7-DF0B126C21F7}"/>
                </a:ext>
              </a:extLst>
            </p:cNvPr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37A6DA2C-D14E-E09D-6A61-B226302DAB9C}"/>
              </a:ext>
            </a:extLst>
          </p:cNvPr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29DE844-1270-2494-46BE-F28A9B9601E2}"/>
                </a:ext>
              </a:extLst>
            </p:cNvPr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3653A4EC-AA27-0042-E141-501CC3B26987}"/>
                </a:ext>
              </a:extLst>
            </p:cNvPr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9359A084-69D2-F5D7-9045-FD70DDA442F6}"/>
              </a:ext>
            </a:extLst>
          </p:cNvPr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FD8A1FB1-760D-D4F8-DEED-C35413CADFF9}"/>
                </a:ext>
              </a:extLst>
            </p:cNvPr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B65377BA-ACBC-A62A-9EDC-0C7E1B442561}"/>
                </a:ext>
              </a:extLst>
            </p:cNvPr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80AFC960-40E6-294B-B408-7C4FA0D78AE4}"/>
              </a:ext>
            </a:extLst>
          </p:cNvPr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BC90DAD4-F973-F6E6-CF31-15D7C6F5B735}"/>
                </a:ext>
              </a:extLst>
            </p:cNvPr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849E8474-2D4F-028E-F86E-C434052006D6}"/>
                </a:ext>
              </a:extLst>
            </p:cNvPr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BF53A78A-28A6-EADA-F96C-3A98B1916DA4}"/>
              </a:ext>
            </a:extLst>
          </p:cNvPr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93A9EBEF-7B8D-88C5-1A90-A283C340EF69}"/>
                </a:ext>
              </a:extLst>
            </p:cNvPr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8" name="TextBox 48">
              <a:extLst>
                <a:ext uri="{FF2B5EF4-FFF2-40B4-BE49-F238E27FC236}">
                  <a16:creationId xmlns:a16="http://schemas.microsoft.com/office/drawing/2014/main" id="{B144912B-18AF-C01E-12AF-00D763472BAE}"/>
                </a:ext>
              </a:extLst>
            </p:cNvPr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9" name="Group 49">
            <a:extLst>
              <a:ext uri="{FF2B5EF4-FFF2-40B4-BE49-F238E27FC236}">
                <a16:creationId xmlns:a16="http://schemas.microsoft.com/office/drawing/2014/main" id="{F479A90B-D516-E00D-776E-6C1A418B55E1}"/>
              </a:ext>
            </a:extLst>
          </p:cNvPr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FD5854FC-2188-F47B-A5F2-02A86BFE5623}"/>
                </a:ext>
              </a:extLst>
            </p:cNvPr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443CBB3B-6119-9B91-7D6B-FCDA056B11F3}"/>
                </a:ext>
              </a:extLst>
            </p:cNvPr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5" name="Freeform 55">
            <a:extLst>
              <a:ext uri="{FF2B5EF4-FFF2-40B4-BE49-F238E27FC236}">
                <a16:creationId xmlns:a16="http://schemas.microsoft.com/office/drawing/2014/main" id="{A92BAB28-3673-EBF1-477C-74281AF325AC}"/>
              </a:ext>
            </a:extLst>
          </p:cNvPr>
          <p:cNvSpPr/>
          <p:nvPr/>
        </p:nvSpPr>
        <p:spPr>
          <a:xfrm>
            <a:off x="6721906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F48504B2-6A74-CF2F-A907-582CE7B6D5E2}"/>
              </a:ext>
            </a:extLst>
          </p:cNvPr>
          <p:cNvSpPr/>
          <p:nvPr/>
        </p:nvSpPr>
        <p:spPr>
          <a:xfrm>
            <a:off x="197333" y="182890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Freeform 57">
            <a:extLst>
              <a:ext uri="{FF2B5EF4-FFF2-40B4-BE49-F238E27FC236}">
                <a16:creationId xmlns:a16="http://schemas.microsoft.com/office/drawing/2014/main" id="{8FEDBAD6-D08C-C261-E3BE-964C7505C7A9}"/>
              </a:ext>
            </a:extLst>
          </p:cNvPr>
          <p:cNvSpPr/>
          <p:nvPr/>
        </p:nvSpPr>
        <p:spPr>
          <a:xfrm>
            <a:off x="17026886" y="9107862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0250D380-3F0E-848F-90D3-C0E5CBFFDFB4}"/>
              </a:ext>
            </a:extLst>
          </p:cNvPr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273695D9-18C4-2472-70CE-BAB8596BAD9A}"/>
              </a:ext>
            </a:extLst>
          </p:cNvPr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25225612-532B-E25F-A617-F9C0A2393BD4}"/>
              </a:ext>
            </a:extLst>
          </p:cNvPr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8DA78E4C-58B5-81C7-B419-DEA11EB48FF6}"/>
              </a:ext>
            </a:extLst>
          </p:cNvPr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1E6B0022-3BC2-90C7-447E-B841FC591D87}"/>
              </a:ext>
            </a:extLst>
          </p:cNvPr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85CAF3CA-4574-711F-0FCA-37A571064DBB}"/>
              </a:ext>
            </a:extLst>
          </p:cNvPr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1CF82FD8-15B2-41AC-5923-A43D5F789DEC}"/>
              </a:ext>
            </a:extLst>
          </p:cNvPr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D02A32BB-D6CF-9728-8282-F5223152A615}"/>
              </a:ext>
            </a:extLst>
          </p:cNvPr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B2CA28FA-C96E-2984-FDC2-B76B4DF6F93B}"/>
              </a:ext>
            </a:extLst>
          </p:cNvPr>
          <p:cNvSpPr txBox="1"/>
          <p:nvPr/>
        </p:nvSpPr>
        <p:spPr>
          <a:xfrm>
            <a:off x="2082969" y="846475"/>
            <a:ext cx="14436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Selectors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2CE5C032-D500-78A6-4F7F-20C21BE697E3}"/>
              </a:ext>
            </a:extLst>
          </p:cNvPr>
          <p:cNvSpPr txBox="1"/>
          <p:nvPr/>
        </p:nvSpPr>
        <p:spPr>
          <a:xfrm>
            <a:off x="1023198" y="852998"/>
            <a:ext cx="8624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D5FDA258-678B-4685-6E67-E813D2CD3EEB}"/>
              </a:ext>
            </a:extLst>
          </p:cNvPr>
          <p:cNvSpPr txBox="1"/>
          <p:nvPr/>
        </p:nvSpPr>
        <p:spPr>
          <a:xfrm>
            <a:off x="3664445" y="852998"/>
            <a:ext cx="14436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Properties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BA9FA47A-D80E-1543-B1DA-DDF2BC278942}"/>
              </a:ext>
            </a:extLst>
          </p:cNvPr>
          <p:cNvSpPr txBox="1"/>
          <p:nvPr/>
        </p:nvSpPr>
        <p:spPr>
          <a:xfrm>
            <a:off x="-717658" y="1956044"/>
            <a:ext cx="7568150" cy="53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add CSS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05F58C4A-CB94-4642-4B0D-24ADF30CB6F5}"/>
              </a:ext>
            </a:extLst>
          </p:cNvPr>
          <p:cNvSpPr txBox="1"/>
          <p:nvPr/>
        </p:nvSpPr>
        <p:spPr>
          <a:xfrm>
            <a:off x="5317628" y="835585"/>
            <a:ext cx="14436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</a:p>
        </p:txBody>
      </p:sp>
      <p:grpSp>
        <p:nvGrpSpPr>
          <p:cNvPr id="82" name="Group 52">
            <a:extLst>
              <a:ext uri="{FF2B5EF4-FFF2-40B4-BE49-F238E27FC236}">
                <a16:creationId xmlns:a16="http://schemas.microsoft.com/office/drawing/2014/main" id="{5518F2D5-3C50-0C4F-D10C-04A3C720BEF6}"/>
              </a:ext>
            </a:extLst>
          </p:cNvPr>
          <p:cNvGrpSpPr/>
          <p:nvPr/>
        </p:nvGrpSpPr>
        <p:grpSpPr>
          <a:xfrm>
            <a:off x="6686721" y="857755"/>
            <a:ext cx="1834484" cy="387788"/>
            <a:chOff x="0" y="0"/>
            <a:chExt cx="483156" cy="102133"/>
          </a:xfrm>
        </p:grpSpPr>
        <p:sp>
          <p:nvSpPr>
            <p:cNvPr id="83" name="Freeform 53">
              <a:extLst>
                <a:ext uri="{FF2B5EF4-FFF2-40B4-BE49-F238E27FC236}">
                  <a16:creationId xmlns:a16="http://schemas.microsoft.com/office/drawing/2014/main" id="{A36755B3-D930-6B99-4AAE-2F221DCB2957}"/>
                </a:ext>
              </a:extLst>
            </p:cNvPr>
            <p:cNvSpPr/>
            <p:nvPr/>
          </p:nvSpPr>
          <p:spPr>
            <a:xfrm>
              <a:off x="0" y="0"/>
              <a:ext cx="483156" cy="102133"/>
            </a:xfrm>
            <a:custGeom>
              <a:avLst/>
              <a:gdLst/>
              <a:ahLst/>
              <a:cxnLst/>
              <a:rect l="l" t="t" r="r" b="b"/>
              <a:pathLst>
                <a:path w="483156" h="102133">
                  <a:moveTo>
                    <a:pt x="0" y="0"/>
                  </a:moveTo>
                  <a:lnTo>
                    <a:pt x="483156" y="0"/>
                  </a:lnTo>
                  <a:lnTo>
                    <a:pt x="483156" y="102133"/>
                  </a:lnTo>
                  <a:lnTo>
                    <a:pt x="0" y="102133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4" name="TextBox 54">
              <a:extLst>
                <a:ext uri="{FF2B5EF4-FFF2-40B4-BE49-F238E27FC236}">
                  <a16:creationId xmlns:a16="http://schemas.microsoft.com/office/drawing/2014/main" id="{FFB85AA8-F09F-CF72-47F8-4549A69236B8}"/>
                </a:ext>
              </a:extLst>
            </p:cNvPr>
            <p:cNvSpPr txBox="1"/>
            <p:nvPr/>
          </p:nvSpPr>
          <p:spPr>
            <a:xfrm>
              <a:off x="0" y="-38100"/>
              <a:ext cx="483156" cy="140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85" name="Freeform 55">
            <a:extLst>
              <a:ext uri="{FF2B5EF4-FFF2-40B4-BE49-F238E27FC236}">
                <a16:creationId xmlns:a16="http://schemas.microsoft.com/office/drawing/2014/main" id="{9A2CC46E-E41D-AA29-7AD2-859CD8DD8CB7}"/>
              </a:ext>
            </a:extLst>
          </p:cNvPr>
          <p:cNvSpPr/>
          <p:nvPr/>
        </p:nvSpPr>
        <p:spPr>
          <a:xfrm>
            <a:off x="8137332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86" name="TextBox 71">
            <a:extLst>
              <a:ext uri="{FF2B5EF4-FFF2-40B4-BE49-F238E27FC236}">
                <a16:creationId xmlns:a16="http://schemas.microsoft.com/office/drawing/2014/main" id="{3A1C8ACC-F477-2610-7251-B51A432161BC}"/>
              </a:ext>
            </a:extLst>
          </p:cNvPr>
          <p:cNvSpPr txBox="1"/>
          <p:nvPr/>
        </p:nvSpPr>
        <p:spPr>
          <a:xfrm>
            <a:off x="6733054" y="835585"/>
            <a:ext cx="14436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Adding ways 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5BB015C-D89A-7B94-8352-7A5FDE51CBCA}"/>
              </a:ext>
            </a:extLst>
          </p:cNvPr>
          <p:cNvSpPr/>
          <p:nvPr/>
        </p:nvSpPr>
        <p:spPr>
          <a:xfrm>
            <a:off x="1535709" y="3194198"/>
            <a:ext cx="2500409" cy="784025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Inline CSS</a:t>
            </a:r>
          </a:p>
        </p:txBody>
      </p:sp>
      <p:sp>
        <p:nvSpPr>
          <p:cNvPr id="97" name="TextBox 70">
            <a:extLst>
              <a:ext uri="{FF2B5EF4-FFF2-40B4-BE49-F238E27FC236}">
                <a16:creationId xmlns:a16="http://schemas.microsoft.com/office/drawing/2014/main" id="{A4F69709-CB92-07F7-126F-5D7A0FE6EF51}"/>
              </a:ext>
            </a:extLst>
          </p:cNvPr>
          <p:cNvSpPr txBox="1"/>
          <p:nvPr/>
        </p:nvSpPr>
        <p:spPr>
          <a:xfrm>
            <a:off x="1269015" y="4033557"/>
            <a:ext cx="8546087" cy="478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the style attribute, bad for large projects.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41FE2FBE-091B-6296-97C6-178633B252F9}"/>
              </a:ext>
            </a:extLst>
          </p:cNvPr>
          <p:cNvSpPr/>
          <p:nvPr/>
        </p:nvSpPr>
        <p:spPr>
          <a:xfrm>
            <a:off x="9117510" y="5112691"/>
            <a:ext cx="2500409" cy="784025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Internal CSS</a:t>
            </a:r>
          </a:p>
        </p:txBody>
      </p:sp>
      <p:sp>
        <p:nvSpPr>
          <p:cNvPr id="102" name="TextBox 70">
            <a:extLst>
              <a:ext uri="{FF2B5EF4-FFF2-40B4-BE49-F238E27FC236}">
                <a16:creationId xmlns:a16="http://schemas.microsoft.com/office/drawing/2014/main" id="{BE26B8B0-154C-46BF-FA00-62687AF1B18F}"/>
              </a:ext>
            </a:extLst>
          </p:cNvPr>
          <p:cNvSpPr txBox="1"/>
          <p:nvPr/>
        </p:nvSpPr>
        <p:spPr>
          <a:xfrm>
            <a:off x="8850816" y="5952050"/>
            <a:ext cx="8546087" cy="478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Inside &lt;style&gt;, good for small pages.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6D412D0-6CDA-4E32-40B6-9092FAC8A443}"/>
              </a:ext>
            </a:extLst>
          </p:cNvPr>
          <p:cNvSpPr/>
          <p:nvPr/>
        </p:nvSpPr>
        <p:spPr>
          <a:xfrm>
            <a:off x="1535709" y="7614697"/>
            <a:ext cx="2500409" cy="784025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External CSS</a:t>
            </a:r>
          </a:p>
        </p:txBody>
      </p:sp>
      <p:sp>
        <p:nvSpPr>
          <p:cNvPr id="104" name="TextBox 70">
            <a:extLst>
              <a:ext uri="{FF2B5EF4-FFF2-40B4-BE49-F238E27FC236}">
                <a16:creationId xmlns:a16="http://schemas.microsoft.com/office/drawing/2014/main" id="{89DD4D31-7DB7-4958-4182-E95C1BCE43DF}"/>
              </a:ext>
            </a:extLst>
          </p:cNvPr>
          <p:cNvSpPr txBox="1"/>
          <p:nvPr/>
        </p:nvSpPr>
        <p:spPr>
          <a:xfrm>
            <a:off x="1269015" y="8335260"/>
            <a:ext cx="8546087" cy="478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a .</a:t>
            </a:r>
            <a:r>
              <a:rPr lang="en-US" sz="282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css</a:t>
            </a: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file, best practice.</a:t>
            </a:r>
          </a:p>
        </p:txBody>
      </p:sp>
      <p:sp>
        <p:nvSpPr>
          <p:cNvPr id="108" name="TextBox 70">
            <a:extLst>
              <a:ext uri="{FF2B5EF4-FFF2-40B4-BE49-F238E27FC236}">
                <a16:creationId xmlns:a16="http://schemas.microsoft.com/office/drawing/2014/main" id="{0FD88358-BA6B-21EC-0EC4-E17F9A70F775}"/>
              </a:ext>
            </a:extLst>
          </p:cNvPr>
          <p:cNvSpPr txBox="1"/>
          <p:nvPr/>
        </p:nvSpPr>
        <p:spPr>
          <a:xfrm>
            <a:off x="1269015" y="4522936"/>
            <a:ext cx="8546087" cy="478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&lt;p style="</a:t>
            </a:r>
            <a:r>
              <a:rPr lang="en-US" sz="2829" b="1" dirty="0" err="1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color:red</a:t>
            </a:r>
            <a:r>
              <a:rPr lang="en-US" sz="2829" b="1" dirty="0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;"&gt;Hello&lt;/p&gt;</a:t>
            </a:r>
          </a:p>
        </p:txBody>
      </p:sp>
      <p:sp>
        <p:nvSpPr>
          <p:cNvPr id="109" name="TextBox 70">
            <a:extLst>
              <a:ext uri="{FF2B5EF4-FFF2-40B4-BE49-F238E27FC236}">
                <a16:creationId xmlns:a16="http://schemas.microsoft.com/office/drawing/2014/main" id="{836F3506-CE0C-0F5F-C15F-B279AADDAFB6}"/>
              </a:ext>
            </a:extLst>
          </p:cNvPr>
          <p:cNvSpPr txBox="1"/>
          <p:nvPr/>
        </p:nvSpPr>
        <p:spPr>
          <a:xfrm>
            <a:off x="8850816" y="6657303"/>
            <a:ext cx="8546087" cy="1504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&lt;style&gt;</a:t>
            </a:r>
          </a:p>
          <a:p>
            <a:pPr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  p { color: red; }</a:t>
            </a:r>
          </a:p>
          <a:p>
            <a:pPr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&lt;/style&gt;</a:t>
            </a:r>
          </a:p>
        </p:txBody>
      </p:sp>
      <p:sp>
        <p:nvSpPr>
          <p:cNvPr id="110" name="TextBox 70">
            <a:extLst>
              <a:ext uri="{FF2B5EF4-FFF2-40B4-BE49-F238E27FC236}">
                <a16:creationId xmlns:a16="http://schemas.microsoft.com/office/drawing/2014/main" id="{F50B03A8-15A6-C8EC-77EE-B5C7617F39F4}"/>
              </a:ext>
            </a:extLst>
          </p:cNvPr>
          <p:cNvSpPr txBox="1"/>
          <p:nvPr/>
        </p:nvSpPr>
        <p:spPr>
          <a:xfrm>
            <a:off x="1269015" y="8970801"/>
            <a:ext cx="8546087" cy="478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&lt;link </a:t>
            </a:r>
            <a:r>
              <a:rPr lang="en-US" sz="2829" b="1" dirty="0" err="1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rel</a:t>
            </a:r>
            <a:r>
              <a:rPr lang="en-US" sz="2829" b="1" dirty="0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="stylesheet" </a:t>
            </a:r>
            <a:r>
              <a:rPr lang="en-US" sz="2829" b="1" dirty="0" err="1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href</a:t>
            </a:r>
            <a:r>
              <a:rPr lang="en-US" sz="2829" b="1" dirty="0">
                <a:solidFill>
                  <a:srgbClr val="FFFFFF"/>
                </a:solidFill>
                <a:highlight>
                  <a:srgbClr val="000000"/>
                </a:highlight>
                <a:latin typeface="Canva Sans Bold"/>
                <a:ea typeface="Canva Sans Bold"/>
                <a:cs typeface="Canva Sans Bold"/>
                <a:sym typeface="Canva Sans Bold"/>
              </a:rPr>
              <a:t>="style.css"&gt;</a:t>
            </a:r>
          </a:p>
        </p:txBody>
      </p:sp>
    </p:spTree>
    <p:extLst>
      <p:ext uri="{BB962C8B-B14F-4D97-AF65-F5344CB8AC3E}">
        <p14:creationId xmlns:p14="http://schemas.microsoft.com/office/powerpoint/2010/main" val="2913806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0" grpId="0"/>
      <p:bldP spid="96" grpId="0" animBg="1"/>
      <p:bldP spid="101" grpId="0" animBg="1"/>
      <p:bldP spid="10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72C745F-CF1E-F672-4B24-16DD6EDB53D2}"/>
              </a:ext>
            </a:extLst>
          </p:cNvPr>
          <p:cNvSpPr/>
          <p:nvPr/>
        </p:nvSpPr>
        <p:spPr>
          <a:xfrm>
            <a:off x="1398549" y="4691459"/>
            <a:ext cx="3694144" cy="1113664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BB4D331-2EA9-7663-F88D-F8E2BB0C2F24}"/>
              </a:ext>
            </a:extLst>
          </p:cNvPr>
          <p:cNvSpPr/>
          <p:nvPr/>
        </p:nvSpPr>
        <p:spPr>
          <a:xfrm>
            <a:off x="1398549" y="7199485"/>
            <a:ext cx="3694144" cy="1113664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3918D83-2F80-1E9D-25A0-CA65C45E261A}"/>
              </a:ext>
            </a:extLst>
          </p:cNvPr>
          <p:cNvSpPr/>
          <p:nvPr/>
        </p:nvSpPr>
        <p:spPr>
          <a:xfrm>
            <a:off x="1398549" y="1855520"/>
            <a:ext cx="3694144" cy="989581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8" name="Group 18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22" name="Group 22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2161" y="814871"/>
            <a:ext cx="17468548" cy="450247"/>
            <a:chOff x="0" y="0"/>
            <a:chExt cx="4600770" cy="1185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082969" y="826525"/>
            <a:ext cx="1834484" cy="387788"/>
            <a:chOff x="0" y="0"/>
            <a:chExt cx="483156" cy="10213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83156" cy="102133"/>
            </a:xfrm>
            <a:custGeom>
              <a:avLst/>
              <a:gdLst/>
              <a:ahLst/>
              <a:cxnLst/>
              <a:rect l="l" t="t" r="r" b="b"/>
              <a:pathLst>
                <a:path w="483156" h="102133">
                  <a:moveTo>
                    <a:pt x="0" y="0"/>
                  </a:moveTo>
                  <a:lnTo>
                    <a:pt x="483156" y="0"/>
                  </a:lnTo>
                  <a:lnTo>
                    <a:pt x="483156" y="102133"/>
                  </a:lnTo>
                  <a:lnTo>
                    <a:pt x="0" y="102133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483156" cy="140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5" name="Freeform 55"/>
          <p:cNvSpPr/>
          <p:nvPr/>
        </p:nvSpPr>
        <p:spPr>
          <a:xfrm>
            <a:off x="3676551" y="947378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56" name="Freeform 56"/>
          <p:cNvSpPr/>
          <p:nvPr/>
        </p:nvSpPr>
        <p:spPr>
          <a:xfrm>
            <a:off x="197333" y="182890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Freeform 57"/>
          <p:cNvSpPr/>
          <p:nvPr/>
        </p:nvSpPr>
        <p:spPr>
          <a:xfrm>
            <a:off x="17026886" y="9107862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9396436" y="1601412"/>
            <a:ext cx="7201576" cy="4203711"/>
          </a:xfrm>
          <a:custGeom>
            <a:avLst/>
            <a:gdLst/>
            <a:ahLst/>
            <a:cxnLst/>
            <a:rect l="l" t="t" r="r" b="b"/>
            <a:pathLst>
              <a:path w="7201576" h="4203711">
                <a:moveTo>
                  <a:pt x="0" y="0"/>
                </a:moveTo>
                <a:lnTo>
                  <a:pt x="7201576" y="0"/>
                </a:lnTo>
                <a:lnTo>
                  <a:pt x="7201576" y="4203711"/>
                </a:lnTo>
                <a:lnTo>
                  <a:pt x="0" y="4203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082969" y="846475"/>
            <a:ext cx="14436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Selectors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99393" y="1986410"/>
            <a:ext cx="5601637" cy="646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8"/>
              </a:lnSpc>
              <a:spcBef>
                <a:spcPct val="0"/>
              </a:spcBef>
            </a:pPr>
            <a:r>
              <a:rPr lang="en-US" sz="3792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Tag Selector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23198" y="852998"/>
            <a:ext cx="8624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614449" y="3232201"/>
            <a:ext cx="7975676" cy="471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Selects all elements of a certain type.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875671" y="4037739"/>
            <a:ext cx="4648356" cy="47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EX:</a:t>
            </a:r>
            <a:r>
              <a:rPr lang="en-US" sz="2829" dirty="0">
                <a:solidFill>
                  <a:srgbClr val="953AEE"/>
                </a:solidFill>
                <a:latin typeface="Canva Sans"/>
                <a:ea typeface="Canva Sans"/>
                <a:cs typeface="Canva Sans"/>
                <a:sym typeface="Canva Sans"/>
              </a:rPr>
              <a:t>  p { color: white; }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38278" y="4875939"/>
            <a:ext cx="4962752" cy="646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08"/>
              </a:lnSpc>
              <a:spcBef>
                <a:spcPct val="0"/>
              </a:spcBef>
            </a:pPr>
            <a:r>
              <a:rPr lang="en-US" sz="3792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Selector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432538" y="5922622"/>
            <a:ext cx="13835899" cy="47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Selects all elements with a specific class attribute. Use this the most!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08584" y="6565115"/>
            <a:ext cx="11417753" cy="47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EX:  </a:t>
            </a:r>
            <a:r>
              <a:rPr lang="en-US" sz="2829" dirty="0">
                <a:solidFill>
                  <a:srgbClr val="953AEE"/>
                </a:solidFill>
                <a:latin typeface="Canva Sans"/>
                <a:ea typeface="Canva Sans"/>
                <a:cs typeface="Canva Sans"/>
                <a:sym typeface="Canva Sans"/>
              </a:rPr>
              <a:t>.highlight { background: yellow; }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89121" y="7432614"/>
            <a:ext cx="4010728" cy="1313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8"/>
              </a:lnSpc>
              <a:spcBef>
                <a:spcPct val="0"/>
              </a:spcBef>
            </a:pPr>
            <a:r>
              <a:rPr lang="en-US" sz="3792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 Selector</a:t>
            </a:r>
          </a:p>
          <a:p>
            <a:pPr algn="ctr">
              <a:lnSpc>
                <a:spcPts val="5308"/>
              </a:lnSpc>
              <a:spcBef>
                <a:spcPct val="0"/>
              </a:spcBef>
            </a:pPr>
            <a:endParaRPr lang="en-US" sz="3792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1237038" y="8512533"/>
            <a:ext cx="14031400" cy="47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Selects the one element with a specific id attribute. Use it sparingly.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762577" y="9276526"/>
            <a:ext cx="7731802" cy="478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EX: </a:t>
            </a:r>
            <a:r>
              <a:rPr lang="en-US" sz="2829" dirty="0">
                <a:solidFill>
                  <a:srgbClr val="5E17EB"/>
                </a:solidFill>
                <a:latin typeface="Canva Sans"/>
                <a:ea typeface="Canva Sans"/>
                <a:cs typeface="Canva Sans"/>
                <a:sym typeface="Canva Sans"/>
              </a:rPr>
              <a:t>#main-header { font-size: 32px; }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78" grpId="0" animBg="1"/>
      <p:bldP spid="58" grpId="0" animBg="1"/>
      <p:bldP spid="68" grpId="0"/>
      <p:bldP spid="72" grpId="0"/>
      <p:bldP spid="7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FC99F9D8-6025-75DF-33AD-A8914072F99D}"/>
              </a:ext>
            </a:extLst>
          </p:cNvPr>
          <p:cNvSpPr/>
          <p:nvPr/>
        </p:nvSpPr>
        <p:spPr>
          <a:xfrm>
            <a:off x="1454415" y="2178808"/>
            <a:ext cx="5174985" cy="1135892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8" name="Group 18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22" name="Group 22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2161" y="814871"/>
            <a:ext cx="17468548" cy="450247"/>
            <a:chOff x="0" y="0"/>
            <a:chExt cx="4600770" cy="1185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568869" y="871338"/>
            <a:ext cx="1834484" cy="387788"/>
            <a:chOff x="0" y="0"/>
            <a:chExt cx="483156" cy="10213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83156" cy="102133"/>
            </a:xfrm>
            <a:custGeom>
              <a:avLst/>
              <a:gdLst/>
              <a:ahLst/>
              <a:cxnLst/>
              <a:rect l="l" t="t" r="r" b="b"/>
              <a:pathLst>
                <a:path w="483156" h="102133">
                  <a:moveTo>
                    <a:pt x="0" y="0"/>
                  </a:moveTo>
                  <a:lnTo>
                    <a:pt x="483156" y="0"/>
                  </a:lnTo>
                  <a:lnTo>
                    <a:pt x="483156" y="102133"/>
                  </a:lnTo>
                  <a:lnTo>
                    <a:pt x="0" y="102133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483156" cy="140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5" name="Freeform 55"/>
          <p:cNvSpPr/>
          <p:nvPr/>
        </p:nvSpPr>
        <p:spPr>
          <a:xfrm>
            <a:off x="5191875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56" name="Freeform 56"/>
          <p:cNvSpPr/>
          <p:nvPr/>
        </p:nvSpPr>
        <p:spPr>
          <a:xfrm>
            <a:off x="197333" y="182890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Freeform 57"/>
          <p:cNvSpPr/>
          <p:nvPr/>
        </p:nvSpPr>
        <p:spPr>
          <a:xfrm>
            <a:off x="17026886" y="9107862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8740085" y="3732698"/>
            <a:ext cx="769731" cy="707320"/>
          </a:xfrm>
          <a:custGeom>
            <a:avLst/>
            <a:gdLst/>
            <a:ahLst/>
            <a:cxnLst/>
            <a:rect l="l" t="t" r="r" b="b"/>
            <a:pathLst>
              <a:path w="769731" h="707320">
                <a:moveTo>
                  <a:pt x="0" y="0"/>
                </a:moveTo>
                <a:lnTo>
                  <a:pt x="769730" y="0"/>
                </a:lnTo>
                <a:lnTo>
                  <a:pt x="769730" y="707320"/>
                </a:lnTo>
                <a:lnTo>
                  <a:pt x="0" y="70732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5403353" y="5227380"/>
            <a:ext cx="913695" cy="826676"/>
          </a:xfrm>
          <a:custGeom>
            <a:avLst/>
            <a:gdLst/>
            <a:ahLst/>
            <a:cxnLst/>
            <a:rect l="l" t="t" r="r" b="b"/>
            <a:pathLst>
              <a:path w="913695" h="826676">
                <a:moveTo>
                  <a:pt x="0" y="0"/>
                </a:moveTo>
                <a:lnTo>
                  <a:pt x="913696" y="0"/>
                </a:lnTo>
                <a:lnTo>
                  <a:pt x="913696" y="826677"/>
                </a:lnTo>
                <a:lnTo>
                  <a:pt x="0" y="82667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11979877" y="5143500"/>
            <a:ext cx="790747" cy="910557"/>
          </a:xfrm>
          <a:custGeom>
            <a:avLst/>
            <a:gdLst/>
            <a:ahLst/>
            <a:cxnLst/>
            <a:rect l="l" t="t" r="r" b="b"/>
            <a:pathLst>
              <a:path w="790747" h="910557">
                <a:moveTo>
                  <a:pt x="0" y="0"/>
                </a:moveTo>
                <a:lnTo>
                  <a:pt x="790747" y="0"/>
                </a:lnTo>
                <a:lnTo>
                  <a:pt x="790747" y="910557"/>
                </a:lnTo>
                <a:lnTo>
                  <a:pt x="0" y="91055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8721218" y="7418023"/>
            <a:ext cx="1007292" cy="1034516"/>
          </a:xfrm>
          <a:custGeom>
            <a:avLst/>
            <a:gdLst/>
            <a:ahLst/>
            <a:cxnLst/>
            <a:rect l="l" t="t" r="r" b="b"/>
            <a:pathLst>
              <a:path w="1007292" h="1034516">
                <a:moveTo>
                  <a:pt x="0" y="0"/>
                </a:moveTo>
                <a:lnTo>
                  <a:pt x="1007292" y="0"/>
                </a:lnTo>
                <a:lnTo>
                  <a:pt x="1007292" y="1034517"/>
                </a:lnTo>
                <a:lnTo>
                  <a:pt x="0" y="103451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TextBox 62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082969" y="846475"/>
            <a:ext cx="1443633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Selectors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23198" y="852998"/>
            <a:ext cx="862433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64445" y="852998"/>
            <a:ext cx="1443633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Properties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-115387" y="2373708"/>
            <a:ext cx="8302693" cy="47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Common CSS Properties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962899" y="4672457"/>
            <a:ext cx="2324102" cy="478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color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898976" y="6477343"/>
            <a:ext cx="3804489" cy="47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background-color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10502" y="6477343"/>
            <a:ext cx="5729498" cy="478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font-size / font-family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975502" y="8930498"/>
            <a:ext cx="2498724" cy="47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width / height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58" grpId="0" animBg="1"/>
      <p:bldP spid="59" grpId="0" animBg="1"/>
      <p:bldP spid="60" grpId="0" animBg="1"/>
      <p:bldP spid="61" grpId="0" animBg="1"/>
      <p:bldP spid="73" grpId="0"/>
      <p:bldP spid="74" grpId="0"/>
      <p:bldP spid="75" grpId="0"/>
      <p:bldP spid="76" grpId="0"/>
      <p:bldP spid="7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083B64DB-202A-875B-776B-1A5E708475B2}"/>
              </a:ext>
            </a:extLst>
          </p:cNvPr>
          <p:cNvSpPr/>
          <p:nvPr/>
        </p:nvSpPr>
        <p:spPr>
          <a:xfrm>
            <a:off x="1222786" y="1641724"/>
            <a:ext cx="4001729" cy="1327545"/>
          </a:xfrm>
          <a:prstGeom prst="round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838502" cy="10712964"/>
            <a:chOff x="0" y="0"/>
            <a:chExt cx="220840" cy="2821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840" cy="2821521"/>
            </a:xfrm>
            <a:custGeom>
              <a:avLst/>
              <a:gdLst/>
              <a:ahLst/>
              <a:cxnLst/>
              <a:rect l="l" t="t" r="r" b="b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840" cy="285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6276" y="1065232"/>
            <a:ext cx="325949" cy="423081"/>
          </a:xfrm>
          <a:custGeom>
            <a:avLst/>
            <a:gdLst/>
            <a:ahLst/>
            <a:cxnLst/>
            <a:rect l="l" t="t" r="r" b="b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50160" y="1357326"/>
            <a:ext cx="199126" cy="19912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613" tIns="44613" rIns="44613" bIns="446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1949" y="1828531"/>
            <a:ext cx="350277" cy="350277"/>
          </a:xfrm>
          <a:custGeom>
            <a:avLst/>
            <a:gdLst/>
            <a:ahLst/>
            <a:cxnLst/>
            <a:rect l="l" t="t" r="r" b="b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79289" y="2454850"/>
            <a:ext cx="279924" cy="356385"/>
          </a:xfrm>
          <a:custGeom>
            <a:avLst/>
            <a:gdLst/>
            <a:ahLst/>
            <a:cxnLst/>
            <a:rect l="l" t="t" r="r" b="b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V="1">
            <a:off x="216842" y="3087278"/>
            <a:ext cx="404818" cy="404818"/>
          </a:xfrm>
          <a:custGeom>
            <a:avLst/>
            <a:gdLst/>
            <a:ahLst/>
            <a:cxnLst/>
            <a:rect l="l" t="t" r="r" b="b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6500" y="9324151"/>
            <a:ext cx="465502" cy="465502"/>
          </a:xfrm>
          <a:custGeom>
            <a:avLst/>
            <a:gdLst/>
            <a:ahLst/>
            <a:cxnLst/>
            <a:rect l="l" t="t" r="r" b="b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97333" y="8745996"/>
            <a:ext cx="443836" cy="443836"/>
          </a:xfrm>
          <a:custGeom>
            <a:avLst/>
            <a:gdLst/>
            <a:ahLst/>
            <a:cxnLst/>
            <a:rect l="l" t="t" r="r" b="b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0" y="0"/>
            <a:ext cx="18288000" cy="762528"/>
            <a:chOff x="0" y="0"/>
            <a:chExt cx="4816593" cy="2008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200831"/>
            </a:xfrm>
            <a:custGeom>
              <a:avLst/>
              <a:gdLst/>
              <a:ahLst/>
              <a:cxnLst/>
              <a:rect l="l" t="t" r="r" b="b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16593" cy="23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577956" y="266752"/>
            <a:ext cx="281285" cy="272079"/>
          </a:xfrm>
          <a:custGeom>
            <a:avLst/>
            <a:gdLst/>
            <a:ahLst/>
            <a:cxnLst/>
            <a:rect l="l" t="t" r="r" b="b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grpSp>
        <p:nvGrpSpPr>
          <p:cNvPr id="18" name="Group 18"/>
          <p:cNvGrpSpPr/>
          <p:nvPr/>
        </p:nvGrpSpPr>
        <p:grpSpPr>
          <a:xfrm>
            <a:off x="17123261" y="266752"/>
            <a:ext cx="272079" cy="272079"/>
            <a:chOff x="0" y="0"/>
            <a:chExt cx="71659" cy="71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659" cy="71659"/>
            </a:xfrm>
            <a:custGeom>
              <a:avLst/>
              <a:gdLst/>
              <a:ahLst/>
              <a:cxnLst/>
              <a:rect l="l" t="t" r="r" b="b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EBEBEB"/>
              </a:solidFill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1659" cy="10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6508931" y="421820"/>
            <a:ext cx="383184" cy="0"/>
          </a:xfrm>
          <a:prstGeom prst="line">
            <a:avLst/>
          </a:prstGeom>
          <a:ln w="38100" cap="flat">
            <a:solidFill>
              <a:srgbClr val="EBEB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600"/>
          </a:p>
        </p:txBody>
      </p:sp>
      <p:grpSp>
        <p:nvGrpSpPr>
          <p:cNvPr id="22" name="Group 22"/>
          <p:cNvGrpSpPr/>
          <p:nvPr/>
        </p:nvGrpSpPr>
        <p:grpSpPr>
          <a:xfrm>
            <a:off x="-19050" y="762528"/>
            <a:ext cx="18288000" cy="52342"/>
            <a:chOff x="0" y="0"/>
            <a:chExt cx="4816593" cy="13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13786"/>
            </a:xfrm>
            <a:custGeom>
              <a:avLst/>
              <a:gdLst/>
              <a:ahLst/>
              <a:cxnLst/>
              <a:rect l="l" t="t" r="r" b="b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5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2161" y="814871"/>
            <a:ext cx="17468548" cy="450247"/>
            <a:chOff x="0" y="0"/>
            <a:chExt cx="4600770" cy="1185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00770" cy="118584"/>
            </a:xfrm>
            <a:custGeom>
              <a:avLst/>
              <a:gdLst/>
              <a:ahLst/>
              <a:cxnLst/>
              <a:rect l="l" t="t" r="r" b="b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60077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502" y="826525"/>
            <a:ext cx="1394416" cy="450247"/>
            <a:chOff x="0" y="0"/>
            <a:chExt cx="367254" cy="1185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7254" cy="118584"/>
            </a:xfrm>
            <a:custGeom>
              <a:avLst/>
              <a:gdLst/>
              <a:ahLst/>
              <a:cxnLst/>
              <a:rect l="l" t="t" r="r" b="b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67254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32917" y="826525"/>
            <a:ext cx="1517452" cy="450247"/>
            <a:chOff x="0" y="0"/>
            <a:chExt cx="399658" cy="11858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9658" cy="118584"/>
            </a:xfrm>
            <a:custGeom>
              <a:avLst/>
              <a:gdLst/>
              <a:ahLst/>
              <a:cxnLst/>
              <a:rect l="l" t="t" r="r" b="b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9965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0844" y="826525"/>
            <a:ext cx="1367234" cy="450247"/>
            <a:chOff x="0" y="0"/>
            <a:chExt cx="360095" cy="11858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0095" cy="118584"/>
            </a:xfrm>
            <a:custGeom>
              <a:avLst/>
              <a:gdLst/>
              <a:ahLst/>
              <a:cxnLst/>
              <a:rect l="l" t="t" r="r" b="b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60095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08078" y="829218"/>
            <a:ext cx="1385902" cy="450247"/>
            <a:chOff x="0" y="0"/>
            <a:chExt cx="365011" cy="11858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5011" cy="118584"/>
            </a:xfrm>
            <a:custGeom>
              <a:avLst/>
              <a:gdLst/>
              <a:ahLst/>
              <a:cxnLst/>
              <a:rect l="l" t="t" r="r" b="b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65011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93981" y="829218"/>
            <a:ext cx="1030046" cy="450247"/>
            <a:chOff x="0" y="0"/>
            <a:chExt cx="271288" cy="1185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1288" cy="118584"/>
            </a:xfrm>
            <a:custGeom>
              <a:avLst/>
              <a:gdLst/>
              <a:ahLst/>
              <a:cxnLst/>
              <a:rect l="l" t="t" r="r" b="b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71288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24027" y="829218"/>
            <a:ext cx="1102678" cy="450247"/>
            <a:chOff x="0" y="0"/>
            <a:chExt cx="290417" cy="1185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0417" cy="118584"/>
            </a:xfrm>
            <a:custGeom>
              <a:avLst/>
              <a:gdLst/>
              <a:ahLst/>
              <a:cxnLst/>
              <a:rect l="l" t="t" r="r" b="b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9041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626705" y="829218"/>
            <a:ext cx="1196319" cy="450247"/>
            <a:chOff x="0" y="0"/>
            <a:chExt cx="315080" cy="11858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5080" cy="118584"/>
            </a:xfrm>
            <a:custGeom>
              <a:avLst/>
              <a:gdLst/>
              <a:ahLst/>
              <a:cxnLst/>
              <a:rect l="l" t="t" r="r" b="b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315080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822029" y="829218"/>
            <a:ext cx="890926" cy="450247"/>
            <a:chOff x="0" y="0"/>
            <a:chExt cx="234647" cy="1185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34647" cy="118584"/>
            </a:xfrm>
            <a:custGeom>
              <a:avLst/>
              <a:gdLst/>
              <a:ahLst/>
              <a:cxnLst/>
              <a:rect l="l" t="t" r="r" b="b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34647" cy="156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71295" y="857755"/>
            <a:ext cx="1834484" cy="387788"/>
            <a:chOff x="0" y="0"/>
            <a:chExt cx="483156" cy="10213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83156" cy="102133"/>
            </a:xfrm>
            <a:custGeom>
              <a:avLst/>
              <a:gdLst/>
              <a:ahLst/>
              <a:cxnLst/>
              <a:rect l="l" t="t" r="r" b="b"/>
              <a:pathLst>
                <a:path w="483156" h="102133">
                  <a:moveTo>
                    <a:pt x="0" y="0"/>
                  </a:moveTo>
                  <a:lnTo>
                    <a:pt x="483156" y="0"/>
                  </a:lnTo>
                  <a:lnTo>
                    <a:pt x="483156" y="102133"/>
                  </a:lnTo>
                  <a:lnTo>
                    <a:pt x="0" y="102133"/>
                  </a:lnTo>
                  <a:close/>
                </a:path>
              </a:pathLst>
            </a:custGeom>
            <a:solidFill>
              <a:srgbClr val="232221"/>
            </a:solid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483156" cy="140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/>
            </a:p>
          </p:txBody>
        </p:sp>
      </p:grpSp>
      <p:sp>
        <p:nvSpPr>
          <p:cNvPr id="55" name="Freeform 55"/>
          <p:cNvSpPr/>
          <p:nvPr/>
        </p:nvSpPr>
        <p:spPr>
          <a:xfrm>
            <a:off x="6721906" y="1003043"/>
            <a:ext cx="128586" cy="124378"/>
          </a:xfrm>
          <a:custGeom>
            <a:avLst/>
            <a:gdLst/>
            <a:ahLst/>
            <a:cxnLst/>
            <a:rect l="l" t="t" r="r" b="b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56" name="Freeform 56"/>
          <p:cNvSpPr/>
          <p:nvPr/>
        </p:nvSpPr>
        <p:spPr>
          <a:xfrm>
            <a:off x="197333" y="182890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Freeform 57"/>
          <p:cNvSpPr/>
          <p:nvPr/>
        </p:nvSpPr>
        <p:spPr>
          <a:xfrm>
            <a:off x="17026886" y="9107862"/>
            <a:ext cx="464828" cy="477861"/>
          </a:xfrm>
          <a:custGeom>
            <a:avLst/>
            <a:gdLst/>
            <a:ahLst/>
            <a:cxnLst/>
            <a:rect l="l" t="t" r="r" b="b"/>
            <a:pathLst>
              <a:path w="464828" h="477861">
                <a:moveTo>
                  <a:pt x="0" y="0"/>
                </a:moveTo>
                <a:lnTo>
                  <a:pt x="464828" y="0"/>
                </a:lnTo>
                <a:lnTo>
                  <a:pt x="464828" y="477861"/>
                </a:lnTo>
                <a:lnTo>
                  <a:pt x="0" y="477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9984773" y="3087278"/>
            <a:ext cx="7506942" cy="5404998"/>
          </a:xfrm>
          <a:custGeom>
            <a:avLst/>
            <a:gdLst/>
            <a:ahLst/>
            <a:cxnLst/>
            <a:rect l="l" t="t" r="r" b="b"/>
            <a:pathLst>
              <a:path w="7506942" h="5404998">
                <a:moveTo>
                  <a:pt x="0" y="0"/>
                </a:moveTo>
                <a:lnTo>
                  <a:pt x="7506941" y="0"/>
                </a:lnTo>
                <a:lnTo>
                  <a:pt x="7506941" y="5404998"/>
                </a:lnTo>
                <a:lnTo>
                  <a:pt x="0" y="540499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923925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740528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Edit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556767" y="177516"/>
            <a:ext cx="1193602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036119" y="177516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852359" y="162507"/>
            <a:ext cx="265245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403353" y="177516"/>
            <a:ext cx="397867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086971" y="162507"/>
            <a:ext cx="1060979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Terminal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433700" y="162507"/>
            <a:ext cx="530490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082969" y="846475"/>
            <a:ext cx="14436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Selectors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23198" y="852998"/>
            <a:ext cx="8624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664445" y="852998"/>
            <a:ext cx="14436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Properties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-717658" y="1956044"/>
            <a:ext cx="7568150" cy="96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  <a:spcBef>
                <a:spcPct val="0"/>
              </a:spcBef>
            </a:pPr>
            <a:r>
              <a:rPr lang="en-US" sz="282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CSS Box Model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  <a:endParaRPr lang="en-US" sz="282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5317628" y="835585"/>
            <a:ext cx="1443633" cy="31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42765" y="2808087"/>
            <a:ext cx="13153394" cy="6600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81"/>
              </a:lnSpc>
            </a:pPr>
            <a:r>
              <a:rPr lang="en-US" sz="252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Every HTML element is a rectangular box. The CSS Box </a:t>
            </a:r>
          </a:p>
          <a:p>
            <a:pPr algn="just">
              <a:lnSpc>
                <a:spcPts val="5881"/>
              </a:lnSpc>
            </a:pPr>
            <a:r>
              <a:rPr lang="en-US" sz="252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describes the parts of that box:</a:t>
            </a:r>
          </a:p>
          <a:p>
            <a:pPr marL="544965" lvl="1" indent="-272483" algn="just">
              <a:lnSpc>
                <a:spcPts val="5881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Content: The text, image, or other content.</a:t>
            </a:r>
          </a:p>
          <a:p>
            <a:pPr marL="544965" lvl="1" indent="-272483" algn="just">
              <a:lnSpc>
                <a:spcPts val="5881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Padding: The space *inside* the border, between </a:t>
            </a:r>
          </a:p>
          <a:p>
            <a:pPr algn="just">
              <a:lnSpc>
                <a:spcPts val="5881"/>
              </a:lnSpc>
            </a:pPr>
            <a:r>
              <a:rPr lang="en-US" sz="252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content and the border.</a:t>
            </a:r>
          </a:p>
          <a:p>
            <a:pPr marL="544965" lvl="1" indent="-272483" algn="just">
              <a:lnSpc>
                <a:spcPts val="5881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Border: The line that goes *around* the padding.</a:t>
            </a:r>
          </a:p>
          <a:p>
            <a:pPr marL="544965" lvl="1" indent="-272483" algn="just">
              <a:lnSpc>
                <a:spcPts val="5881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Margin: The space *outside* the border, separating</a:t>
            </a:r>
          </a:p>
          <a:p>
            <a:pPr algn="just">
              <a:lnSpc>
                <a:spcPts val="5881"/>
              </a:lnSpc>
            </a:pPr>
            <a:r>
              <a:rPr lang="en-US" sz="252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it from other elements.</a:t>
            </a:r>
          </a:p>
          <a:p>
            <a:pPr algn="just">
              <a:lnSpc>
                <a:spcPts val="5881"/>
              </a:lnSpc>
            </a:pPr>
            <a:endParaRPr lang="en-US" sz="2524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5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0000" b="-3000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526487" y="5234428"/>
            <a:ext cx="6234601" cy="1242366"/>
            <a:chOff x="0" y="0"/>
            <a:chExt cx="1217713" cy="2426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7713" cy="242653"/>
            </a:xfrm>
            <a:custGeom>
              <a:avLst/>
              <a:gdLst/>
              <a:ahLst/>
              <a:cxnLst/>
              <a:rect l="l" t="t" r="r" b="b"/>
              <a:pathLst>
                <a:path w="1217713" h="242653">
                  <a:moveTo>
                    <a:pt x="0" y="0"/>
                  </a:moveTo>
                  <a:lnTo>
                    <a:pt x="1217713" y="0"/>
                  </a:lnTo>
                  <a:lnTo>
                    <a:pt x="1217713" y="242653"/>
                  </a:lnTo>
                  <a:lnTo>
                    <a:pt x="0" y="242653"/>
                  </a:lnTo>
                  <a:close/>
                </a:path>
              </a:pathLst>
            </a:custGeom>
            <a:solidFill>
              <a:srgbClr val="F165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7713" cy="280753"/>
            </a:xfrm>
            <a:prstGeom prst="rect">
              <a:avLst/>
            </a:prstGeom>
          </p:spPr>
          <p:txBody>
            <a:bodyPr lIns="64899" tIns="64899" rIns="64899" bIns="64899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82813" y="3648281"/>
            <a:ext cx="11661510" cy="282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0"/>
              </a:lnSpc>
              <a:spcBef>
                <a:spcPct val="0"/>
              </a:spcBef>
            </a:pPr>
            <a:r>
              <a:rPr lang="en-US" sz="8078" b="1" spc="1106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THANK YOU FOR LISTENING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9156" y="3892391"/>
            <a:ext cx="2383037" cy="89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6"/>
              </a:lnSpc>
              <a:spcBef>
                <a:spcPct val="0"/>
              </a:spcBef>
            </a:pPr>
            <a:r>
              <a:rPr lang="en-US" sz="4776" b="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&lt;p&gt;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45312" y="5346511"/>
            <a:ext cx="3189460" cy="89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6"/>
              </a:lnSpc>
              <a:spcBef>
                <a:spcPct val="0"/>
              </a:spcBef>
            </a:pPr>
            <a:r>
              <a:rPr lang="en-US" sz="4776" b="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&lt;/p&gt;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87316" y="7167032"/>
            <a:ext cx="7513367" cy="246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Created By:</a:t>
            </a:r>
          </a:p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Mohammed Esam - Head</a:t>
            </a:r>
          </a:p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Abdulkader Adnan - Co-Head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Youssef Hussein - Co-Head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Shahd </a:t>
            </a:r>
            <a:r>
              <a:rPr lang="en-US" sz="2799" b="1" dirty="0" err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waleed</a:t>
            </a:r>
            <a:r>
              <a:rPr lang="en-US" sz="2799" b="1" dirty="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– Co-Head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1876</Words>
  <Application>Microsoft Office PowerPoint</Application>
  <PresentationFormat>Custom</PresentationFormat>
  <Paragraphs>509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League Spartan</vt:lpstr>
      <vt:lpstr>TT Supermolot Neue Bold</vt:lpstr>
      <vt:lpstr>Consolas</vt:lpstr>
      <vt:lpstr>Canva Sans Bold</vt:lpstr>
      <vt:lpstr>Arimo Bold</vt:lpstr>
      <vt:lpstr>Canva Sans</vt:lpstr>
      <vt:lpstr>Consolas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Tutorial For Beginners Presentation in Blue Green Orange Purple Modern Style</dc:title>
  <dc:creator>Abdelkader</dc:creator>
  <cp:lastModifiedBy>Mohammed Essam</cp:lastModifiedBy>
  <cp:revision>4</cp:revision>
  <dcterms:created xsi:type="dcterms:W3CDTF">2006-08-16T00:00:00Z</dcterms:created>
  <dcterms:modified xsi:type="dcterms:W3CDTF">2025-11-18T20:25:36Z</dcterms:modified>
  <dc:identifier>DAG4-vScbJM</dc:identifier>
</cp:coreProperties>
</file>